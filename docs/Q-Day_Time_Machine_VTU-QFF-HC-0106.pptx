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5143500" cy="9144000"/>
  <p:defaultTextStyle>
    <a:defPPr lvl="0"/>
    <a:lvl1pPr marL="0" lv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lvl="1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lvl="2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lvl="3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lvl="4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lvl="5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lvl="6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lvl="7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lvl="8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8" d="100"/>
          <a:sy n="108" d="100"/>
        </p:scale>
        <p:origin x="8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100" b="1">
                <a:solidFill>
                  <a:srgbClr val="5B3BA8"/>
                </a:solidFill>
                <a:latin typeface="Calibri"/>
              </a:rPr>
              <a:t>ibm_marrakesh, 4,000 shots per circuit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Hardware success (%)</c:v>
                </c:pt>
              </c:strCache>
            </c:strRef>
          </c:tx>
          <c:spPr>
            <a:solidFill>
              <a:srgbClr val="5B3BA8"/>
            </a:solidFill>
          </c:spPr>
          <c:invertIfNegative val="1"/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/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Shor a=7</c:v>
                </c:pt>
                <c:pt idx="1">
                  <c:v>Shor a=2</c:v>
                </c:pt>
                <c:pt idx="2">
                  <c:v>Shor a=13</c:v>
                </c:pt>
                <c:pt idx="3">
                  <c:v>Grover 1 iter</c:v>
                </c:pt>
                <c:pt idx="4">
                  <c:v>Grover 2 iter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68.2</c:v>
                </c:pt>
                <c:pt idx="1">
                  <c:v>68.2</c:v>
                </c:pt>
                <c:pt idx="2">
                  <c:v>71.599999999999994</c:v>
                </c:pt>
                <c:pt idx="3">
                  <c:v>54.5</c:v>
                </c:pt>
                <c:pt idx="4">
                  <c:v>46.3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7AA6-4A85-A78A-8B41C00EBCA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Noise / random-guess baseline (%)</c:v>
                </c:pt>
              </c:strCache>
            </c:strRef>
          </c:tx>
          <c:spPr>
            <a:solidFill>
              <a:srgbClr val="E8639F"/>
            </a:solidFill>
          </c:spPr>
          <c:invertIfNegative val="1"/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/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Shor a=7</c:v>
                </c:pt>
                <c:pt idx="1">
                  <c:v>Shor a=2</c:v>
                </c:pt>
                <c:pt idx="2">
                  <c:v>Shor a=13</c:v>
                </c:pt>
                <c:pt idx="3">
                  <c:v>Grover 1 iter</c:v>
                </c:pt>
                <c:pt idx="4">
                  <c:v>Grover 2 iter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37.5</c:v>
                </c:pt>
                <c:pt idx="1">
                  <c:v>37.5</c:v>
                </c:pt>
                <c:pt idx="2">
                  <c:v>37.5</c:v>
                </c:pt>
                <c:pt idx="3">
                  <c:v>12.5</c:v>
                </c:pt>
                <c:pt idx="4">
                  <c:v>12.5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7AA6-4A85-A78A-8B41C00EBCA4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60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B8BDEB"/>
            </a:solidFill>
          </a:ln>
        </c:spPr>
        <c:txPr>
          <a:bodyPr/>
          <a:lstStyle/>
          <a:p>
            <a:pPr>
              <a:defRPr sz="900"/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100"/>
          <c:min val="0"/>
        </c:scaling>
        <c:delete val="0"/>
        <c:axPos val="l"/>
        <c:majorGridlines>
          <c:spPr>
            <a:ln w="6350">
              <a:solidFill>
                <a:srgbClr val="D9DCF5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/>
            </a:pPr>
            <a:endParaRPr lang="en-US"/>
          </a:p>
        </c:txPr>
        <c:crossAx val="-2068027336"/>
        <c:crosses val="autoZero"/>
        <c:crossBetween val="between"/>
        <c:majorUnit val="25"/>
      </c:valAx>
    </c:plotArea>
    <c:legend>
      <c:legendPos val="b"/>
      <c:overlay val="0"/>
      <c:txPr>
        <a:bodyPr/>
        <a:lstStyle/>
        <a:p>
          <a:pPr>
            <a:defRPr sz="900"/>
          </a:pPr>
          <a:endParaRPr lang="en-US"/>
        </a:p>
      </c:txPr>
    </c:legend>
    <c:plotVisOnly val="1"/>
    <c:dispBlanksAs val="gap"/>
    <c:showDLblsOverMax val="1"/>
  </c:chart>
  <c:spPr>
    <a:noFill/>
    <a:ln>
      <a:noFill/>
    </a:ln>
  </c:spPr>
  <c:txPr>
    <a:bodyPr/>
    <a:lstStyle/>
    <a:p>
      <a:pPr>
        <a:defRPr sz="1000">
          <a:solidFill>
            <a:srgbClr val="2E1B5B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2913063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EFA1F8C-B10B-C84D-94FC-B3DA01C1C208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2913063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0902761-92A6-8544-9B98-D45CEE3CC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46363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problem</a:t>
            </a:r>
          </a:p>
          <a:p>
            <a:r>
              <a:t>Shor's algorithm breaks the RSA and elliptic-curve cryptography that protects today's logins, payments and signatures.</a:t>
            </a:r>
          </a:p>
          <a:p>
            <a:r>
              <a:t>Attackers can already record encrypted traffic and decrypt it later: "harvest now, decrypt later".</a:t>
            </a:r>
          </a:p>
          <a:p>
            <a:r>
              <a:t>The gap</a:t>
            </a:r>
          </a:p>
          <a:p>
            <a:r>
              <a:t>Organisations cannot answer the questions that drive decisions:</a:t>
            </a:r>
          </a:p>
          <a:p>
            <a:r>
              <a:t>Which of my systems break first?</a:t>
            </a:r>
          </a:p>
          <a:p>
            <a:r>
              <a:t>In what year do they break?</a:t>
            </a:r>
          </a:p>
          <a:p>
            <a:r>
              <a:t>Is the data I send today already at risk?</a:t>
            </a:r>
          </a:p>
          <a:p>
            <a:r>
              <a:t>Inventory tools list where cryptography is used. They do not turn that list into a timeline, a priority order or a proof.</a:t>
            </a:r>
          </a:p>
          <a:p>
            <a:r>
              <a:t>Why it matters</a:t>
            </a:r>
          </a:p>
          <a:p>
            <a:r>
              <a:t>NIST's draft transition plan (IR 8547) disallows RSA and elliptic-curve cryptography by 2035, and migrations take years.</a:t>
            </a:r>
          </a:p>
          <a:p>
            <a:r>
              <a:t>Data with a long shelf life (health records, finance, identity) is already exposed if it is recorded today.</a:t>
            </a:r>
          </a:p>
          <a:p>
            <a:r>
              <a:t>Teams need to know where to start, and why to believe the timeline.</a:t>
            </a:r>
          </a:p>
          <a:p>
            <a:r>
              <a:t>Track / Category</a:t>
            </a:r>
          </a:p>
          <a:p>
            <a:r>
              <a:t>Online  ·  Track 1  ·  Quantum Cryptography &amp; Security</a:t>
            </a:r>
          </a:p>
          <a:p>
            <a:r>
              <a:t>Problem statement: Q-Day Time Machine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Objectives</a:t>
            </a:r>
          </a:p>
          <a:p>
            <a:r>
              <a:t>Scan live TLS endpoints and source code (eight languages) for quantum-vulnerable cryptography</a:t>
            </a:r>
          </a:p>
          <a:p>
            <a:r>
              <a:t>Inventory it as a CycloneDX 1.6 Cryptography Bill of Materials (CBOM)</a:t>
            </a:r>
          </a:p>
          <a:p>
            <a:r>
              <a:t>Forecast a break year for every algorithm from published attack costs vs IBM's roadmap</a:t>
            </a:r>
          </a:p>
          <a:p>
            <a:r>
              <a:t>Prioritise with Mosca's inequality and a harvest-now window</a:t>
            </a:r>
          </a:p>
          <a:p>
            <a:r>
              <a:t>Prove the threat with Shor and Grover attacks on real IBM quantum hardware</a:t>
            </a:r>
          </a:p>
          <a:p>
            <a:r>
              <a:t>Fix it: show NIST post-quantum ML-KEM-768 and ML-DSA-65 working live</a:t>
            </a:r>
          </a:p>
          <a:p>
            <a:r>
              <a:t>Novelty</a:t>
            </a:r>
          </a:p>
          <a:p>
            <a:r>
              <a:t>A timeline, not just an inventory: checks logical qubits and Toffoli-gate counts year by year</a:t>
            </a:r>
          </a:p>
          <a:p>
            <a:r>
              <a:t>Pre-registered hardware tests: rules (strict-v1) fixed in code before the runs; Grover secrets drawn blind at submit time</a:t>
            </a:r>
          </a:p>
          <a:p>
            <a:r>
              <a:t>Honest circuits: modular multipliers are synthesised for any constant, so the circuit never encodes the answer</a:t>
            </a:r>
          </a:p>
          <a:p>
            <a:r>
              <a:t>Independent check: a second simulator (quantum-debugger) agrees with Qiskit to 3 × 10-13</a:t>
            </a:r>
          </a:p>
          <a:p>
            <a:r>
              <a:t>Live detection of the hybrid post-quantum group X25519MLKEM768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Solution: six steps from inventory to proof</a:t>
            </a:r>
          </a:p>
          <a:p>
            <a:r>
              <a:t>Scan: TLS certificates, key-exchange groups and source code</a:t>
            </a:r>
          </a:p>
          <a:p>
            <a:r>
              <a:t>CBOM: CycloneDX 1.6 inventory with a quantum-security level per algorithm</a:t>
            </a:r>
          </a:p>
          <a:p>
            <a:r>
              <a:t>Time Machine: year slider against IBM's roadmap (Starling 2029, Blue Jay 2033+)</a:t>
            </a:r>
          </a:p>
          <a:p>
            <a:r>
              <a:t>Risk: Mosca's inequality and the harvest-now window</a:t>
            </a:r>
          </a:p>
          <a:p>
            <a:r>
              <a:t>Prove it: Shor and Grover in Qiskit on IBM hardware, stepped through gate by gate</a:t>
            </a:r>
          </a:p>
          <a:p>
            <a:r>
              <a:t>Migrate: hybrid X25519 + ML-KEM-768 and ML-DSA-65 beside RSA-2048 and ECDSA P-256</a:t>
            </a:r>
          </a:p>
          <a:p>
            <a:r>
              <a:t>Quantum advantage</a:t>
            </a:r>
          </a:p>
          <a:p>
            <a:r>
              <a:t>Shor's algorithm: polynomial-time order finding breaks factoring and discrete logs. RSA-2048 needs about 1,399 logical qubits and 6.5 × 109 Toffoli gates; ECC P-256 about 2,330 qubits and 1.3 × 1011.</a:t>
            </a:r>
          </a:p>
          <a:p>
            <a:r>
              <a:t>Grover's search: about (π/4)·√(2n) oracle calls instead of up to 2n trials, halving symmetric key strength, which is why AES-256 is advised over AES-128.</a:t>
            </a:r>
          </a:p>
          <a:p>
            <a:r>
              <a:t>Forecast: RSA-2048 is qubits-ready in 2033 but short on operations; breakable about 2037 with continued growth (hypothetical). ECC P-256 about 2042.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Shor: order finding</a:t>
            </a:r>
          </a:p>
          <a:p>
            <a:r>
              <a:t>Phase estimation on f(x) = ax mod N: counting qubit j controls multiply by a^(2^j) mod N</a:t>
            </a:r>
          </a:p>
          <a:p>
            <a:r>
              <a:t>Inverse QFT, then continued fractions give the period r and gcd(ar/2 ± 1, N) the factors</a:t>
            </a:r>
          </a:p>
          <a:p>
            <a:r>
              <a:t>N = 15: multipliers are bit rotations plus NOT (173 two-qubit gates)</a:t>
            </a:r>
          </a:p>
          <a:p>
            <a:r>
              <a:t>Grover: key search</a:t>
            </a:r>
          </a:p>
          <a:p>
            <a:r>
              <a:t>Toy cipher Ek(p) = S(p XOR k) with PRESENT's 4-bit S-box (3-bit on hardware)</a:t>
            </a:r>
          </a:p>
          <a:p>
            <a:r>
              <a:t>Oracle flips the phase of keys with Ek(p) = c; diffuser reflects about the mean</a:t>
            </a:r>
          </a:p>
          <a:p>
            <a:r>
              <a:t>About (π/4)·√(2n) iterations; success follows sin2((2i+1)θ)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Implementation</a:t>
            </a:r>
          </a:p>
          <a:p>
            <a:r>
              <a:t>Python package qday with a CLI: scan, cbom, forecast, shor, grover, pqc</a:t>
            </a:r>
          </a:p>
          <a:p>
            <a:r>
              <a:t>Scanner: TLS handshake via ssl and openssl s_client; regex rules extract key sizes and curves</a:t>
            </a:r>
          </a:p>
          <a:p>
            <a:r>
              <a:t>Quantum core: Shor and Grover circuits transpiled and run with SamplerV2 on IBM backends</a:t>
            </a:r>
          </a:p>
          <a:p>
            <a:r>
              <a:t>Statistics: Wilson intervals, exact binomial and chi-square tests, Hellinger fidelity</a:t>
            </a:r>
          </a:p>
          <a:p>
            <a:r>
              <a:t>Streamlit dashboard (Scan, Time Machine, Prove it, Migrate, Sources) with a three.js landing page</a:t>
            </a:r>
          </a:p>
          <a:p>
            <a:r>
              <a:t>969 tests at 96% coverage; CI on Python 3.11 and 3.12; non-root Docker image</a:t>
            </a:r>
          </a:p>
          <a:p>
            <a:r>
              <a:t>Tech stack</a:t>
            </a:r>
          </a:p>
          <a:p>
            <a:r>
              <a:t>Language: Python 3.11+</a:t>
            </a:r>
          </a:p>
          <a:p>
            <a:r>
              <a:t>Quantum: Qiskit ≥ 2.1, Aer, IBM Runtime (SamplerV2)</a:t>
            </a:r>
          </a:p>
          <a:p>
            <a:r>
              <a:t>Hardware: ibm_fez, ibm_kingston, ibm_marrakesh</a:t>
            </a:r>
          </a:p>
          <a:p>
            <a:r>
              <a:t>Post-quantum: kyber-py and dilithium-py (FIPS 203 / 204), cryptography</a:t>
            </a:r>
          </a:p>
          <a:p>
            <a:r>
              <a:t>Debugging: quantum-debugger (independent state-vector check)</a:t>
            </a:r>
          </a:p>
          <a:p>
            <a:r>
              <a:t>Data and UI: NumPy, SciPy, pandas, Streamlit, Plotly, aiohttp, three.js, GSAP</a:t>
            </a:r>
          </a:p>
          <a:p>
            <a:r>
              <a:t>Quality: pytest, Hypothesis, ruff, GitHub Actions, Docker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Simulator (ideal)</a:t>
            </a:r>
          </a:p>
          <a:p>
            <a:r>
              <a:t>Shor factors 15 (every base) and 21; Grover recovers all 16 four-bit and all 8 three-bit keys, matching theory (P = 0.961 and 0.945)</a:t>
            </a:r>
          </a:p>
          <a:p>
            <a:r>
              <a:t>Real IBM hardware</a:t>
            </a:r>
          </a:p>
          <a:p>
            <a:r>
              <a:t>17 circuits × 4,000 shots on ibm_fez, ibm_kingston and ibm_marrakesh: 45 / 45 tests pass, both controls behave</a:t>
            </a:r>
          </a:p>
          <a:p>
            <a:r>
              <a:t>Top Shor outcomes are exactly the ideal peaks y = 0, 2, 4, 6</a:t>
            </a:r>
          </a:p>
          <a:p>
            <a:r>
              <a:t>Pre-registered strict suite</a:t>
            </a:r>
          </a:p>
          <a:p>
            <a:r>
              <a:t>Shor 24 / 24; Grover 10 / 18 (placement matters); ibm_kingston passes all 14 / 14 tests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Impact</a:t>
            </a:r>
          </a:p>
          <a:p>
            <a:r>
              <a:t>Turns a crypto inventory into a timeline: every finding gets a break year, a risk level and a replacement</a:t>
            </a:r>
          </a:p>
          <a:p>
            <a:r>
              <a:t>Shows teams what to fix first, and why to trust the date</a:t>
            </a:r>
          </a:p>
          <a:p>
            <a:r>
              <a:t>Shows that recorded traffic is a risk today, not only after the quantum break</a:t>
            </a:r>
          </a:p>
          <a:p>
            <a:r>
              <a:t>Real case: our own site (quantyxio.cloud) already negotiates X25519MLKEM768, so recorded traffic is protected, but its ECDSA P-256 certificate is not: impersonation becomes possible once such signatures can be forged</a:t>
            </a:r>
          </a:p>
          <a:p>
            <a:r>
              <a:t>Real-world applications</a:t>
            </a:r>
          </a:p>
          <a:p>
            <a:r>
              <a:t>Banks and payments: RSA and ECC in logins, payments and signatures</a:t>
            </a:r>
          </a:p>
          <a:p>
            <a:r>
              <a:t>Healthcare, finance, identity: long-lived data exposed to harvest-now attacks</a:t>
            </a:r>
          </a:p>
          <a:p>
            <a:r>
              <a:t>Enterprise migration: CBOM inventory to plan the NIST IR 8547 transition</a:t>
            </a:r>
          </a:p>
          <a:p>
            <a:r>
              <a:t>DevSecOps: qday scan --fail-on critical as a CI gate</a:t>
            </a:r>
          </a:p>
          <a:p>
            <a:r>
              <a:t>Security teams and educators: a live demo that Shor and Grover are real algorithms on real machines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Challenges</a:t>
            </a:r>
          </a:p>
          <a:p>
            <a:r>
              <a:t>Noise: Grover's ~140 two-qubit gates lose signal; on ibm_marrakesh, placement gave 22% vs 64% success</a:t>
            </a:r>
          </a:p>
          <a:p>
            <a:r>
              <a:t>Scale: N = 21 compiles to ~6,500 two-qubit gates (N = 15 needs 173), so it ran on simulators only</a:t>
            </a:r>
          </a:p>
          <a:p>
            <a:r>
              <a:t>Toy instances: N = 15, 21 and 3 to 4-bit keys, not production keys</a:t>
            </a:r>
          </a:p>
          <a:p>
            <a:r>
              <a:t>Forecasts rest on published estimates and IBM's stated roadmap; after 2033 they are extrapolations</a:t>
            </a:r>
          </a:p>
          <a:p>
            <a:r>
              <a:t>Scanner is pattern-based: findings are leads, not proof of reachability</a:t>
            </a:r>
          </a:p>
          <a:p>
            <a:r>
              <a:t>Future scope</a:t>
            </a:r>
          </a:p>
          <a:p>
            <a:r>
              <a:t>Run larger instances on fault-tolerant machines (IBM Starling 2029, Blue Jay 2033+)</a:t>
            </a:r>
          </a:p>
          <a:p>
            <a:r>
              <a:t>Update forecasts with newer elliptic-curve estimates, which are lower than the 2017 bound used here</a:t>
            </a:r>
          </a:p>
          <a:p>
            <a:r>
              <a:t>Use error suppression and better qubit placement to lift Grover's hardware success</a:t>
            </a:r>
          </a:p>
          <a:p>
            <a:r>
              <a:t>Add reachability analysis to the code scanner to cut false leads</a:t>
            </a:r>
          </a:p>
          <a:p>
            <a:r>
              <a:t>Repeat-run checks on ibm_fez and ibm_marrakesh, as already done on ibm_kingston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DDE2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BD1F5"/>
          </a:solidFill>
          <a:ln w="12700">
            <a:solidFill>
              <a:srgbClr val="CBD1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3054096" cy="45720"/>
          </a:xfrm>
          <a:prstGeom prst="rect">
            <a:avLst/>
          </a:prstGeom>
          <a:solidFill>
            <a:srgbClr val="7C93F0"/>
          </a:solidFill>
          <a:ln w="12700">
            <a:solidFill>
              <a:srgbClr val="7C93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054096" y="658368"/>
            <a:ext cx="3054096" cy="45720"/>
          </a:xfrm>
          <a:prstGeom prst="rect">
            <a:avLst/>
          </a:prstGeom>
          <a:solidFill>
            <a:srgbClr val="E8639F"/>
          </a:solidFill>
          <a:ln w="12700">
            <a:solidFill>
              <a:srgbClr val="E8639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9048" y="658368"/>
            <a:ext cx="3054096" cy="45720"/>
          </a:xfrm>
          <a:prstGeom prst="rect">
            <a:avLst/>
          </a:prstGeom>
          <a:solidFill>
            <a:srgbClr val="5B3BA8"/>
          </a:solidFill>
          <a:ln w="12700">
            <a:solidFill>
              <a:srgbClr val="5B3BA8"/>
            </a:solidFill>
            <a:prstDash val="solid"/>
          </a:ln>
        </p:spPr>
      </p:sp>
      <p:pic>
        <p:nvPicPr>
          <p:cNvPr id="6" name="Image 0" descr="vtu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"/>
            <a:ext cx="475488" cy="47548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32688" y="91440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950" b="1" dirty="0">
                <a:solidFill>
                  <a:srgbClr val="2E1B5B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ವಿಶ್ವೇಶ್ವರಯ್ಯ ತಾಂತ್ರಿಕ ವಿಶ್ವವಿದ್ಯಾಲಯ, ಬೆಳಗಾವಿ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932688" y="338328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rgbClr val="2E1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Visvesvaraya Technological University, Belagavi</a:t>
            </a:r>
            <a:endParaRPr lang="en-US" sz="950" dirty="0"/>
          </a:p>
        </p:txBody>
      </p:sp>
      <p:pic>
        <p:nvPicPr>
          <p:cNvPr id="9" name="Image 1" descr="quc_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1104" y="91440"/>
            <a:ext cx="612648" cy="47548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394960" y="109728"/>
            <a:ext cx="2788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200" dirty="0">
                <a:solidFill>
                  <a:srgbClr val="2E1B5B"/>
                </a:solidFill>
              </a:rPr>
              <a:t>QISKIT FALL FEST 2026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5394960" y="365760"/>
            <a:ext cx="2788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kern="0" spc="100" dirty="0">
                <a:solidFill>
                  <a:srgbClr val="5B3BA8"/>
                </a:solidFill>
              </a:rPr>
              <a:t>IBM Quantum</a:t>
            </a:r>
            <a:endParaRPr lang="en-US" sz="950" dirty="0"/>
          </a:p>
        </p:txBody>
      </p:sp>
      <p:pic>
        <p:nvPicPr>
          <p:cNvPr id="12" name="Image 2" descr="badge_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02752" y="91440"/>
            <a:ext cx="475488" cy="475488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0" y="4828032"/>
            <a:ext cx="9144000" cy="315468"/>
          </a:xfrm>
          <a:prstGeom prst="rect">
            <a:avLst/>
          </a:prstGeom>
          <a:solidFill>
            <a:srgbClr val="CBD1F5"/>
          </a:solidFill>
          <a:ln w="12700">
            <a:solidFill>
              <a:srgbClr val="CBD1F5"/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0" y="4828032"/>
            <a:ext cx="3054096" cy="36576"/>
          </a:xfrm>
          <a:prstGeom prst="rect">
            <a:avLst/>
          </a:prstGeom>
          <a:solidFill>
            <a:srgbClr val="7C93F0"/>
          </a:solidFill>
          <a:ln w="12700">
            <a:solidFill>
              <a:srgbClr val="7C93F0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3054096" y="4828032"/>
            <a:ext cx="3054096" cy="36576"/>
          </a:xfrm>
          <a:prstGeom prst="rect">
            <a:avLst/>
          </a:prstGeom>
          <a:solidFill>
            <a:srgbClr val="E8639F"/>
          </a:solidFill>
          <a:ln w="12700">
            <a:solidFill>
              <a:srgbClr val="E8639F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6099048" y="4828032"/>
            <a:ext cx="3054096" cy="36576"/>
          </a:xfrm>
          <a:prstGeom prst="rect">
            <a:avLst/>
          </a:prstGeom>
          <a:solidFill>
            <a:srgbClr val="5B3BA8"/>
          </a:solidFill>
          <a:ln w="12700">
            <a:solidFill>
              <a:srgbClr val="5B3BA8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457200" y="486460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200" dirty="0">
                <a:solidFill>
                  <a:srgbClr val="2E1B5B"/>
                </a:solidFill>
              </a:rPr>
              <a:t>QISKIT FALL FEST 2026  ·  HOSTED BY VTU, BELAGAVI</a:t>
            </a:r>
            <a:endParaRPr lang="en-US" sz="850" dirty="0"/>
          </a:p>
        </p:txBody>
      </p:sp>
      <p:sp>
        <p:nvSpPr>
          <p:cNvPr id="18" name="Text 13"/>
          <p:cNvSpPr/>
          <p:nvPr/>
        </p:nvSpPr>
        <p:spPr>
          <a:xfrm>
            <a:off x="5943600" y="486460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kern="0" spc="200" dirty="0">
                <a:solidFill>
                  <a:srgbClr val="5B3BA8"/>
                </a:solidFill>
              </a:rPr>
              <a:t>27 – 31 OCT 2026</a:t>
            </a:r>
            <a:endParaRPr lang="en-US" sz="85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DDE2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BD1F5"/>
          </a:solidFill>
          <a:ln w="12700">
            <a:solidFill>
              <a:srgbClr val="CBD1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3054096" cy="45720"/>
          </a:xfrm>
          <a:prstGeom prst="rect">
            <a:avLst/>
          </a:prstGeom>
          <a:solidFill>
            <a:srgbClr val="7C93F0"/>
          </a:solidFill>
          <a:ln w="12700">
            <a:solidFill>
              <a:srgbClr val="7C93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054096" y="658368"/>
            <a:ext cx="3054096" cy="45720"/>
          </a:xfrm>
          <a:prstGeom prst="rect">
            <a:avLst/>
          </a:prstGeom>
          <a:solidFill>
            <a:srgbClr val="E8639F"/>
          </a:solidFill>
          <a:ln w="12700">
            <a:solidFill>
              <a:srgbClr val="E8639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9048" y="658368"/>
            <a:ext cx="3054096" cy="45720"/>
          </a:xfrm>
          <a:prstGeom prst="rect">
            <a:avLst/>
          </a:prstGeom>
          <a:solidFill>
            <a:srgbClr val="5B3BA8"/>
          </a:solidFill>
          <a:ln w="12700">
            <a:solidFill>
              <a:srgbClr val="5B3BA8"/>
            </a:solidFill>
            <a:prstDash val="solid"/>
          </a:ln>
        </p:spPr>
      </p:sp>
      <p:pic>
        <p:nvPicPr>
          <p:cNvPr id="6" name="Image 0" descr="vtu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"/>
            <a:ext cx="475488" cy="47548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32688" y="91440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950" b="1" dirty="0">
                <a:solidFill>
                  <a:srgbClr val="2E1B5B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ವಿಶ್ವೇಶ್ವರಯ್ಯ ತಾಂತ್ರಿಕ ವಿಶ್ವವಿದ್ಯಾಲಯ, ಬೆಳಗಾವಿ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932688" y="338328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rgbClr val="2E1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Visvesvaraya Technological University, Belagavi</a:t>
            </a:r>
            <a:endParaRPr lang="en-US" sz="950" dirty="0"/>
          </a:p>
        </p:txBody>
      </p:sp>
      <p:pic>
        <p:nvPicPr>
          <p:cNvPr id="9" name="Image 1" descr="quc_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1104" y="91440"/>
            <a:ext cx="612648" cy="47548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394960" y="109728"/>
            <a:ext cx="2788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200" dirty="0">
                <a:solidFill>
                  <a:srgbClr val="2E1B5B"/>
                </a:solidFill>
              </a:rPr>
              <a:t>QISKIT FALL FEST 2026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5394960" y="365760"/>
            <a:ext cx="2788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kern="0" spc="100" dirty="0">
                <a:solidFill>
                  <a:srgbClr val="5B3BA8"/>
                </a:solidFill>
              </a:rPr>
              <a:t>IBM Quantum</a:t>
            </a:r>
            <a:endParaRPr lang="en-US" sz="950" dirty="0"/>
          </a:p>
        </p:txBody>
      </p:sp>
      <p:pic>
        <p:nvPicPr>
          <p:cNvPr id="12" name="Image 2" descr="badge_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02752" y="91440"/>
            <a:ext cx="475488" cy="475488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0" y="4828032"/>
            <a:ext cx="9144000" cy="315468"/>
          </a:xfrm>
          <a:prstGeom prst="rect">
            <a:avLst/>
          </a:prstGeom>
          <a:solidFill>
            <a:srgbClr val="CBD1F5"/>
          </a:solidFill>
          <a:ln w="12700">
            <a:solidFill>
              <a:srgbClr val="CBD1F5"/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0" y="4828032"/>
            <a:ext cx="3054096" cy="36576"/>
          </a:xfrm>
          <a:prstGeom prst="rect">
            <a:avLst/>
          </a:prstGeom>
          <a:solidFill>
            <a:srgbClr val="7C93F0"/>
          </a:solidFill>
          <a:ln w="12700">
            <a:solidFill>
              <a:srgbClr val="7C93F0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3054096" y="4828032"/>
            <a:ext cx="3054096" cy="36576"/>
          </a:xfrm>
          <a:prstGeom prst="rect">
            <a:avLst/>
          </a:prstGeom>
          <a:solidFill>
            <a:srgbClr val="E8639F"/>
          </a:solidFill>
          <a:ln w="12700">
            <a:solidFill>
              <a:srgbClr val="E8639F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6099048" y="4828032"/>
            <a:ext cx="3054096" cy="36576"/>
          </a:xfrm>
          <a:prstGeom prst="rect">
            <a:avLst/>
          </a:prstGeom>
          <a:solidFill>
            <a:srgbClr val="5B3BA8"/>
          </a:solidFill>
          <a:ln w="12700">
            <a:solidFill>
              <a:srgbClr val="5B3BA8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457200" y="486460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200" dirty="0">
                <a:solidFill>
                  <a:srgbClr val="2E1B5B"/>
                </a:solidFill>
              </a:rPr>
              <a:t>QISKIT FALL FEST 2026  ·  HOSTED BY VTU, BELAGAVI</a:t>
            </a:r>
            <a:endParaRPr lang="en-US" sz="850" dirty="0"/>
          </a:p>
        </p:txBody>
      </p:sp>
      <p:sp>
        <p:nvSpPr>
          <p:cNvPr id="18" name="Text 13"/>
          <p:cNvSpPr/>
          <p:nvPr/>
        </p:nvSpPr>
        <p:spPr>
          <a:xfrm>
            <a:off x="5943600" y="486460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kern="0" spc="200" dirty="0">
                <a:solidFill>
                  <a:srgbClr val="5B3BA8"/>
                </a:solidFill>
              </a:rPr>
              <a:t>27 – 31 OCT 2026</a:t>
            </a:r>
            <a:endParaRPr lang="en-US" sz="850" dirty="0"/>
          </a:p>
        </p:txBody>
      </p:sp>
      <p:pic>
        <p:nvPicPr>
          <p:cNvPr id="19" name="Image 3" descr="spher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09560" y="822960"/>
            <a:ext cx="777240" cy="777240"/>
          </a:xfrm>
          <a:prstGeom prst="rect">
            <a:avLst/>
          </a:prstGeom>
        </p:spPr>
      </p:pic>
      <p:pic>
        <p:nvPicPr>
          <p:cNvPr id="20" name="Image 4" descr="bird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86600" y="868680"/>
            <a:ext cx="548640" cy="329184"/>
          </a:xfrm>
          <a:prstGeom prst="rect">
            <a:avLst/>
          </a:prstGeom>
        </p:spPr>
      </p:pic>
      <p:pic>
        <p:nvPicPr>
          <p:cNvPr id="21" name="Image 5" descr="bird2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03720" y="1261872"/>
            <a:ext cx="384048" cy="228600"/>
          </a:xfrm>
          <a:prstGeom prst="rect">
            <a:avLst/>
          </a:prstGeom>
        </p:spPr>
      </p:pic>
      <p:sp>
        <p:nvSpPr>
          <p:cNvPr id="22" name="Text 14"/>
          <p:cNvSpPr>
            <a:spLocks noGrp="1"/>
          </p:cNvSpPr>
          <p:nvPr>
            <p:ph type="title" idx="120" hasCustomPrompt="1"/>
          </p:nvPr>
        </p:nvSpPr>
        <p:spPr>
          <a:xfrm>
            <a:off x="457200" y="841248"/>
            <a:ext cx="6309360" cy="5943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2600" b="1" dirty="0">
                <a:solidFill>
                  <a:srgbClr val="2E1B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marL="0" indent="0" algn="l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6460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2E1B5B"/>
                </a:solidFill>
              </a:defRPr>
            </a:lvl1pPr>
          </a:lstStyle>
          <a:p>
            <a:pPr algn="r"/>
            <a:fld id="{F7021451-1387-4CA6-816F-3879F97B5CBC}" type="slidenum">
              <a:rPr lang="en-US" b="1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6460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2E1B5B"/>
                </a:solidFill>
              </a:defRPr>
            </a:lvl1pPr>
          </a:lstStyle>
          <a:p>
            <a:pPr algn="r"/>
            <a:fld id="{F7021451-1387-4CA6-816F-3879F97B5CBC}" type="slidenum">
              <a:rPr lang="en-US" b="1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Relationship Id="rId8" Type="http://schemas.openxmlformats.org/officeDocument/2006/relationships/image" Target="../media/image19.png"/><Relationship Id="rId9" Type="http://schemas.openxmlformats.org/officeDocument/2006/relationships/image" Target="../media/image20.png"/><Relationship Id="rId10" Type="http://schemas.openxmlformats.org/officeDocument/2006/relationships/image" Target="../media/image21.png"/><Relationship Id="rId11" Type="http://schemas.openxmlformats.org/officeDocument/2006/relationships/image" Target="../media/image22.png"/><Relationship Id="rId12" Type="http://schemas.openxmlformats.org/officeDocument/2006/relationships/image" Target="../media/image23.png"/><Relationship Id="rId13" Type="http://schemas.openxmlformats.org/officeDocument/2006/relationships/image" Target="../media/image2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Relationship Id="rId8" Type="http://schemas.openxmlformats.org/officeDocument/2006/relationships/image" Target="../media/image19.png"/><Relationship Id="rId9" Type="http://schemas.openxmlformats.org/officeDocument/2006/relationships/image" Target="../media/image2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Relationship Id="rId4" Type="http://schemas.openxmlformats.org/officeDocument/2006/relationships/image" Target="../media/image2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image" Target="../media/image14.png"/><Relationship Id="rId6" Type="http://schemas.openxmlformats.org/officeDocument/2006/relationships/image" Target="../media/image16.png"/><Relationship Id="rId7" Type="http://schemas.openxmlformats.org/officeDocument/2006/relationships/image" Target="../media/image18.png"/><Relationship Id="rId8" Type="http://schemas.openxmlformats.org/officeDocument/2006/relationships/image" Target="../media/image19.png"/><Relationship Id="rId9" Type="http://schemas.openxmlformats.org/officeDocument/2006/relationships/image" Target="../media/image29.png"/><Relationship Id="rId10" Type="http://schemas.openxmlformats.org/officeDocument/2006/relationships/image" Target="../media/image30.png"/><Relationship Id="rId11" Type="http://schemas.openxmlformats.org/officeDocument/2006/relationships/image" Target="../media/image3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2.png"/><Relationship Id="rId4" Type="http://schemas.openxmlformats.org/officeDocument/2006/relationships/image" Target="../media/image33.png"/><Relationship Id="rId5" Type="http://schemas.openxmlformats.org/officeDocument/2006/relationships/image" Target="../media/image34.png"/><Relationship Id="rId6" Type="http://schemas.openxmlformats.org/officeDocument/2006/relationships/image" Target="../media/image35.png"/><Relationship Id="rId7" Type="http://schemas.openxmlformats.org/officeDocument/2006/relationships/image" Target="../media/image36.png"/><Relationship Id="rId8" Type="http://schemas.openxmlformats.org/officeDocument/2006/relationships/image" Target="../media/image37.png"/><Relationship Id="rId9" Type="http://schemas.openxmlformats.org/officeDocument/2006/relationships/image" Target="../media/image30.png"/><Relationship Id="rId10" Type="http://schemas.openxmlformats.org/officeDocument/2006/relationships/image" Target="../media/image3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9.png"/><Relationship Id="rId4" Type="http://schemas.openxmlformats.org/officeDocument/2006/relationships/image" Target="../media/image40.png"/><Relationship Id="rId5" Type="http://schemas.openxmlformats.org/officeDocument/2006/relationships/image" Target="../media/image4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2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hyperlink" Target="https://github.com/vtu-qiskit-fall-fest-2026/vtu-hc-straw-hat-pirates" TargetMode="External"/><Relationship Id="rId9" Type="http://schemas.openxmlformats.org/officeDocument/2006/relationships/hyperlink" Target="https://youtu.be/nhXP6QLFjoU" TargetMode="External"/><Relationship Id="rId10" Type="http://schemas.openxmlformats.org/officeDocument/2006/relationships/image" Target="../media/image4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9144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E863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PARTICIPANT PRESENTATION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34440"/>
            <a:ext cx="3383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800" b="1" dirty="0">
                <a:solidFill>
                  <a:srgbClr val="2E1B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Qiskit</a:t>
            </a:r>
            <a:endParaRPr lang="en-US" sz="3800" dirty="0"/>
          </a:p>
          <a:p>
            <a:pPr marL="0" indent="0">
              <a:buNone/>
            </a:pPr>
            <a:r>
              <a:rPr lang="en-US" sz="3800" b="1" dirty="0">
                <a:solidFill>
                  <a:srgbClr val="E8639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Fall Fest</a:t>
            </a:r>
            <a:endParaRPr lang="en-US" sz="3800" dirty="0"/>
          </a:p>
          <a:p>
            <a:pPr marL="0" indent="0">
              <a:buNone/>
            </a:pPr>
            <a:r>
              <a:rPr lang="en-US" sz="3800" b="1" dirty="0">
                <a:solidFill>
                  <a:srgbClr val="2E1B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2026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0175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A43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Hackathon · Team Details</a:t>
            </a:r>
            <a:endParaRPr lang="en-US" sz="1300" dirty="0"/>
          </a:p>
        </p:txBody>
      </p:sp>
      <p:pic>
        <p:nvPicPr>
          <p:cNvPr id="5" name="Bloch sphere ring" descr="sphe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291840"/>
            <a:ext cx="1371600" cy="1371600"/>
          </a:xfrm>
          <a:prstGeom prst="rect">
            <a:avLst/>
          </a:prstGeom>
        </p:spPr>
      </p:pic>
      <p:pic>
        <p:nvPicPr>
          <p:cNvPr id="6" name="Image 1" descr="bird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48840" y="3429000"/>
            <a:ext cx="731520" cy="438912"/>
          </a:xfrm>
          <a:prstGeom prst="rect">
            <a:avLst/>
          </a:prstGeom>
        </p:spPr>
      </p:pic>
      <p:pic>
        <p:nvPicPr>
          <p:cNvPr id="7" name="Image 2" descr="bird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80360" y="3977640"/>
            <a:ext cx="502920" cy="301752"/>
          </a:xfrm>
          <a:prstGeom prst="rect">
            <a:avLst/>
          </a:prstGeom>
        </p:spPr>
      </p:pic>
      <p:pic>
        <p:nvPicPr>
          <p:cNvPr id="8" name="Image 3" descr="bird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31720" y="4297680"/>
            <a:ext cx="384048" cy="228600"/>
          </a:xfrm>
          <a:prstGeom prst="rect">
            <a:avLst/>
          </a:prstGeom>
        </p:spPr>
      </p:pic>
      <p:sp>
        <p:nvSpPr>
          <p:cNvPr id="9" name="Text 3"/>
          <p:cNvSpPr txBox="1"/>
          <p:nvPr/>
        </p:nvSpPr>
        <p:spPr>
          <a:xfrm>
            <a:off x="4023360" y="841248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2E1B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Participant Details</a:t>
            </a:r>
            <a:endParaRPr lang="en-US" sz="1600" dirty="0"/>
          </a:p>
        </p:txBody>
      </p:sp>
      <p:sp>
        <p:nvSpPr>
          <p:cNvPr id="10" name="Field: PROJECT TITLE"/>
          <p:cNvSpPr/>
          <p:nvPr/>
        </p:nvSpPr>
        <p:spPr>
          <a:xfrm>
            <a:off x="4023360" y="1261872"/>
            <a:ext cx="466344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B8BDEB"/>
            </a:solidFill>
          </a:ln>
        </p:spPr>
        <p:txBody>
          <a:bodyPr wrap="square" lIns="63500" tIns="114300" rIns="114300" bIns="38100" rtlCol="0" anchor="t"/>
          <a:lstStyle/>
          <a:p>
            <a:pPr marL="0" indent="0" algn="l">
              <a:buNone/>
            </a:pPr>
            <a:r>
              <a:rPr lang="en-US" sz="900" b="1" kern="0" spc="100" dirty="0">
                <a:solidFill>
                  <a:srgbClr val="5B3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TITLE</a:t>
            </a:r>
            <a:endParaRPr lang="en-US" sz="9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2E1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Q-Day Time Machine</a:t>
            </a:r>
            <a:endParaRPr lang="en-US" sz="900" dirty="0"/>
          </a:p>
        </p:txBody>
      </p:sp>
      <p:sp>
        <p:nvSpPr>
          <p:cNvPr id="11" name="Field: TRACK"/>
          <p:cNvSpPr/>
          <p:nvPr/>
        </p:nvSpPr>
        <p:spPr>
          <a:xfrm>
            <a:off x="4023360" y="1865376"/>
            <a:ext cx="228600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B8BDEB"/>
            </a:solidFill>
          </a:ln>
        </p:spPr>
        <p:txBody>
          <a:bodyPr wrap="square" lIns="63500" tIns="114300" rIns="114300" bIns="38100" rtlCol="0" anchor="t"/>
          <a:lstStyle/>
          <a:p>
            <a:pPr marL="0" indent="0" algn="l">
              <a:buNone/>
            </a:pPr>
            <a:r>
              <a:rPr lang="en-US" sz="900" b="1" kern="0" spc="100" dirty="0">
                <a:solidFill>
                  <a:srgbClr val="5B3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</a:t>
            </a:r>
            <a:endParaRPr lang="en-US" sz="900" dirty="0"/>
          </a:p>
          <a:p>
            <a:pPr marL="0" indent="0" algn="l">
              <a:buNone/>
            </a:pPr>
            <a:r>
              <a:rPr lang="en-US" sz="1050" dirty="0">
                <a:solidFill>
                  <a:srgbClr val="2E1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Quantum Cryptography &amp; Security</a:t>
            </a:r>
            <a:endParaRPr lang="en-US" sz="900" dirty="0"/>
          </a:p>
        </p:txBody>
      </p:sp>
      <p:sp>
        <p:nvSpPr>
          <p:cNvPr id="12" name="Field: TEAM NAME"/>
          <p:cNvSpPr/>
          <p:nvPr/>
        </p:nvSpPr>
        <p:spPr>
          <a:xfrm>
            <a:off x="6400800" y="1865376"/>
            <a:ext cx="228600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B8BDEB"/>
            </a:solidFill>
          </a:ln>
        </p:spPr>
        <p:txBody>
          <a:bodyPr wrap="square" lIns="63500" tIns="114300" rIns="114300" bIns="38100" rtlCol="0" anchor="t"/>
          <a:lstStyle/>
          <a:p>
            <a:pPr marL="0" indent="0" algn="l">
              <a:buNone/>
            </a:pPr>
            <a:r>
              <a:rPr lang="en-US" sz="900" b="1" kern="0" spc="100" dirty="0">
                <a:solidFill>
                  <a:srgbClr val="5B3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NAME</a:t>
            </a:r>
            <a:endParaRPr lang="en-US" sz="9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2E1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Straw Hat Pirates</a:t>
            </a:r>
            <a:endParaRPr lang="en-US" sz="900" dirty="0"/>
          </a:p>
        </p:txBody>
      </p:sp>
      <p:sp>
        <p:nvSpPr>
          <p:cNvPr id="13" name="Field: TEAM LEADER"/>
          <p:cNvSpPr/>
          <p:nvPr/>
        </p:nvSpPr>
        <p:spPr>
          <a:xfrm>
            <a:off x="4023360" y="2468880"/>
            <a:ext cx="228600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B8BDEB"/>
            </a:solidFill>
          </a:ln>
        </p:spPr>
        <p:txBody>
          <a:bodyPr wrap="square" lIns="63500" tIns="114300" rIns="114300" bIns="38100" rtlCol="0" anchor="t"/>
          <a:lstStyle/>
          <a:p>
            <a:pPr marL="0" indent="0" algn="l">
              <a:buNone/>
            </a:pPr>
            <a:r>
              <a:rPr lang="en-US" sz="900" b="1" kern="0" spc="100" dirty="0">
                <a:solidFill>
                  <a:srgbClr val="5B3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LEADER</a:t>
            </a:r>
            <a:endParaRPr lang="en-US" sz="9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2E1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Raunak Kumar Gupta</a:t>
            </a:r>
            <a:endParaRPr lang="en-US" sz="900" dirty="0"/>
          </a:p>
        </p:txBody>
      </p:sp>
      <p:sp>
        <p:nvSpPr>
          <p:cNvPr id="14" name="Field: EMAIL / CONTACT"/>
          <p:cNvSpPr/>
          <p:nvPr/>
        </p:nvSpPr>
        <p:spPr>
          <a:xfrm>
            <a:off x="6400800" y="2468880"/>
            <a:ext cx="228600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B8BDEB"/>
            </a:solidFill>
          </a:ln>
        </p:spPr>
        <p:txBody>
          <a:bodyPr wrap="square" lIns="63500" tIns="114300" rIns="114300" bIns="38100" rtlCol="0" anchor="t"/>
          <a:lstStyle/>
          <a:p>
            <a:pPr marL="0" indent="0" algn="l">
              <a:buNone/>
            </a:pPr>
            <a:r>
              <a:rPr lang="en-US" sz="900" b="1" kern="0" spc="100" dirty="0">
                <a:solidFill>
                  <a:srgbClr val="5B3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/ CONTACT</a:t>
            </a:r>
            <a:endParaRPr lang="en-US" sz="9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2E1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raunakg2005@gmail.com</a:t>
            </a:r>
            <a:endParaRPr lang="en-US" sz="900" dirty="0"/>
          </a:p>
        </p:txBody>
      </p:sp>
      <p:sp>
        <p:nvSpPr>
          <p:cNvPr id="15" name="Field: TEAM MEMBERS"/>
          <p:cNvSpPr/>
          <p:nvPr/>
        </p:nvSpPr>
        <p:spPr>
          <a:xfrm>
            <a:off x="4023360" y="3072384"/>
            <a:ext cx="46634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B8BDEB"/>
            </a:solidFill>
          </a:ln>
        </p:spPr>
        <p:txBody>
          <a:bodyPr wrap="square" lIns="63500" tIns="114300" rIns="114300" bIns="38100" rtlCol="0" anchor="t"/>
          <a:lstStyle/>
          <a:p>
            <a:pPr marL="0" indent="0" algn="l">
              <a:buNone/>
            </a:pPr>
            <a:r>
              <a:rPr lang="en-US" sz="900" b="1" kern="0" spc="100" dirty="0">
                <a:solidFill>
                  <a:srgbClr val="5B3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MEMBERS</a:t>
            </a:r>
            <a:endParaRPr lang="en-US" sz="9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2E1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Raunak Kumar Gupta  ·  Krish Jain</a:t>
            </a:r>
            <a:endParaRPr lang="en-US" sz="900" dirty="0"/>
          </a:p>
        </p:txBody>
      </p:sp>
      <p:sp>
        <p:nvSpPr>
          <p:cNvPr id="16" name="Field: INSTITUTION / ORGANISATION"/>
          <p:cNvSpPr/>
          <p:nvPr/>
        </p:nvSpPr>
        <p:spPr>
          <a:xfrm>
            <a:off x="4023360" y="3922776"/>
            <a:ext cx="237744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B8BDEB"/>
            </a:solidFill>
          </a:ln>
        </p:spPr>
        <p:txBody>
          <a:bodyPr wrap="square" lIns="63500" tIns="114300" rIns="114300" bIns="38100" rtlCol="0" anchor="t"/>
          <a:lstStyle/>
          <a:p>
            <a:pPr marL="0" indent="0" algn="l">
              <a:buNone/>
            </a:pPr>
            <a:r>
              <a:rPr lang="en-US" sz="900" b="1" kern="0" spc="100" dirty="0">
                <a:solidFill>
                  <a:srgbClr val="5B3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INSTITUTION / ORGANISATION</a:t>
            </a:r>
            <a:endParaRPr lang="en-US" sz="900" dirty="0"/>
          </a:p>
          <a:p>
            <a:pPr marL="0" indent="0" algn="l">
              <a:buNone/>
            </a:pPr>
            <a:r>
              <a:rPr lang="en-US" sz="1200" i="1" dirty="0">
                <a:solidFill>
                  <a:srgbClr val="6F7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KJ Somaiya College Of Engineering</a:t>
            </a:r>
            <a:endParaRPr lang="en-US" sz="900" dirty="0"/>
          </a:p>
        </p:txBody>
      </p:sp>
      <p:sp>
        <p:nvSpPr>
          <p:cNvPr id="17" name="Field: COUNTRY"/>
          <p:cNvSpPr/>
          <p:nvPr/>
        </p:nvSpPr>
        <p:spPr>
          <a:xfrm>
            <a:off x="6577780" y="3922776"/>
            <a:ext cx="2064774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B8BDEB"/>
            </a:solidFill>
          </a:ln>
        </p:spPr>
        <p:txBody>
          <a:bodyPr wrap="square" lIns="63500" tIns="114300" rIns="114300" bIns="38100" rtlCol="0" anchor="t"/>
          <a:lstStyle/>
          <a:p>
            <a:pPr marL="0" indent="0" algn="l">
              <a:buNone/>
            </a:pPr>
            <a:r>
              <a:rPr lang="en-US" sz="900" b="1" kern="0" spc="100" dirty="0">
                <a:solidFill>
                  <a:srgbClr val="5B3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COUNTRY</a:t>
            </a:r>
            <a:endParaRPr lang="en-US" sz="9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2E1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4"/>
          <p:cNvSpPr>
            <a:spLocks noGrp="1"/>
          </p:cNvSpPr>
          <p:nvPr>
            <p:ph type="title" idx="120" hasCustomPrompt="1"/>
          </p:nvPr>
        </p:nvSpPr>
        <p:spPr>
          <a:xfrm>
            <a:off x="457200" y="841248"/>
            <a:ext cx="6309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2E1B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Problem Statement</a:t>
            </a:r>
            <a:endParaRPr lang="en-US" sz="2600" dirty="0"/>
          </a:p>
        </p:txBody>
      </p:sp>
      <p:sp>
        <p:nvSpPr>
          <p:cNvPr id="3" name="Title accent"/>
          <p:cNvSpPr/>
          <p:nvPr/>
        </p:nvSpPr>
        <p:spPr>
          <a:xfrm>
            <a:off x="457200" y="1463040"/>
            <a:ext cx="256032" cy="45720"/>
          </a:xfrm>
          <a:prstGeom prst="rect">
            <a:avLst/>
          </a:prstGeom>
          <a:solidFill>
            <a:srgbClr val="7C93F0"/>
          </a:solidFill>
          <a:ln w="12700">
            <a:solidFill>
              <a:srgbClr val="7C93F0"/>
            </a:solidFill>
            <a:prstDash val="solid"/>
          </a:ln>
        </p:spPr>
      </p:sp>
      <p:sp>
        <p:nvSpPr>
          <p:cNvPr id="4" name="Title accent"/>
          <p:cNvSpPr/>
          <p:nvPr/>
        </p:nvSpPr>
        <p:spPr>
          <a:xfrm>
            <a:off x="731520" y="1463040"/>
            <a:ext cx="256032" cy="45720"/>
          </a:xfrm>
          <a:prstGeom prst="rect">
            <a:avLst/>
          </a:prstGeom>
          <a:solidFill>
            <a:srgbClr val="E8639F"/>
          </a:solidFill>
          <a:ln w="12700">
            <a:solidFill>
              <a:srgbClr val="E8639F"/>
            </a:solidFill>
            <a:prstDash val="solid"/>
          </a:ln>
        </p:spPr>
      </p:sp>
      <p:sp>
        <p:nvSpPr>
          <p:cNvPr id="5" name="Title accent"/>
          <p:cNvSpPr/>
          <p:nvPr/>
        </p:nvSpPr>
        <p:spPr>
          <a:xfrm>
            <a:off x="1005840" y="1463040"/>
            <a:ext cx="256032" cy="45720"/>
          </a:xfrm>
          <a:prstGeom prst="rect">
            <a:avLst/>
          </a:prstGeom>
          <a:solidFill>
            <a:srgbClr val="5B3BA8"/>
          </a:solidFill>
          <a:ln w="12700">
            <a:solidFill>
              <a:srgbClr val="5B3BA8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6460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2E1B5B"/>
                </a:solidFill>
              </a:defRPr>
            </a:lvl1pPr>
          </a:lstStyle>
          <a:p>
            <a:pPr algn="r"/>
            <a:fld id="{F7021451-1387-4CA6-816F-3879F97B5CBC}" type="slidenum">
              <a:rPr lang="en-US" b="1"/>
              <a:t>2</a:t>
            </a:fld>
            <a:endParaRPr lang="en-US"/>
          </a:p>
        </p:txBody>
      </p:sp>
      <p:sp>
        <p:nvSpPr>
          <p:cNvPr id="26" name="Label"/>
          <p:cNvSpPr txBox="1"/>
          <p:nvPr/>
        </p:nvSpPr>
        <p:spPr>
          <a:xfrm>
            <a:off x="502920" y="1737360"/>
            <a:ext cx="3657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E8639F"/>
                </a:solidFill>
                <a:latin typeface="Calibri"/>
              </a:rPr>
              <a:t>HARVEST NOW, DECRYPT LATER</a:t>
            </a:r>
          </a:p>
        </p:txBody>
      </p:sp>
      <p:pic>
        <p:nvPicPr>
          <p:cNvPr id="27" name="Icon attacker" descr="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7" y="2011680"/>
            <a:ext cx="603504" cy="603504"/>
          </a:xfrm>
          <a:prstGeom prst="rect">
            <a:avLst/>
          </a:prstGeom>
        </p:spPr>
      </p:pic>
      <p:sp>
        <p:nvSpPr>
          <p:cNvPr id="28" name="Text"/>
          <p:cNvSpPr txBox="1"/>
          <p:nvPr/>
        </p:nvSpPr>
        <p:spPr>
          <a:xfrm>
            <a:off x="274319" y="2670048"/>
            <a:ext cx="15544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 i="0">
                <a:solidFill>
                  <a:srgbClr val="2E1B5B"/>
                </a:solidFill>
                <a:latin typeface="Calibri"/>
              </a:rPr>
              <a:t>Record today</a:t>
            </a:r>
          </a:p>
          <a:p>
            <a:pPr algn="ctr">
              <a:spcAft>
                <a:spcPts val="200"/>
              </a:spcAft>
            </a:pPr>
            <a:r>
              <a:rPr sz="1000" b="0" i="0">
                <a:solidFill>
                  <a:srgbClr val="6B5E8A"/>
                </a:solidFill>
                <a:latin typeface="Calibri"/>
              </a:rPr>
              <a:t>Encrypted traffic, 2026</a:t>
            </a:r>
          </a:p>
        </p:txBody>
      </p:sp>
      <p:sp>
        <p:nvSpPr>
          <p:cNvPr id="29" name="Arrow"/>
          <p:cNvSpPr/>
          <p:nvPr/>
        </p:nvSpPr>
        <p:spPr>
          <a:xfrm>
            <a:off x="1463039" y="2231136"/>
            <a:ext cx="868680" cy="182880"/>
          </a:xfrm>
          <a:prstGeom prst="rightArrow">
            <a:avLst/>
          </a:prstGeom>
          <a:solidFill>
            <a:srgbClr val="B8B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Icon store" descr="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41448" y="2011680"/>
            <a:ext cx="603504" cy="603504"/>
          </a:xfrm>
          <a:prstGeom prst="rect">
            <a:avLst/>
          </a:prstGeom>
        </p:spPr>
      </p:pic>
      <p:sp>
        <p:nvSpPr>
          <p:cNvPr id="31" name="Text"/>
          <p:cNvSpPr txBox="1"/>
          <p:nvPr/>
        </p:nvSpPr>
        <p:spPr>
          <a:xfrm>
            <a:off x="1965960" y="2670048"/>
            <a:ext cx="15544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 i="0">
                <a:solidFill>
                  <a:srgbClr val="2E1B5B"/>
                </a:solidFill>
                <a:latin typeface="Calibri"/>
              </a:rPr>
              <a:t>Store for years</a:t>
            </a:r>
          </a:p>
          <a:p>
            <a:pPr algn="ctr">
              <a:spcAft>
                <a:spcPts val="200"/>
              </a:spcAft>
            </a:pPr>
            <a:r>
              <a:rPr sz="1000" b="0" i="0">
                <a:solidFill>
                  <a:srgbClr val="6B5E8A"/>
                </a:solidFill>
                <a:latin typeface="Calibri"/>
              </a:rPr>
              <a:t>Storage is cheap</a:t>
            </a:r>
          </a:p>
        </p:txBody>
      </p:sp>
      <p:sp>
        <p:nvSpPr>
          <p:cNvPr id="32" name="Arrow"/>
          <p:cNvSpPr/>
          <p:nvPr/>
        </p:nvSpPr>
        <p:spPr>
          <a:xfrm>
            <a:off x="3154680" y="2231136"/>
            <a:ext cx="868680" cy="182880"/>
          </a:xfrm>
          <a:prstGeom prst="rightArrow">
            <a:avLst/>
          </a:prstGeom>
          <a:solidFill>
            <a:srgbClr val="B8B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Icon qpu" descr="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33087" y="2011680"/>
            <a:ext cx="603504" cy="603504"/>
          </a:xfrm>
          <a:prstGeom prst="rect">
            <a:avLst/>
          </a:prstGeom>
        </p:spPr>
      </p:pic>
      <p:sp>
        <p:nvSpPr>
          <p:cNvPr id="34" name="Text"/>
          <p:cNvSpPr txBox="1"/>
          <p:nvPr/>
        </p:nvSpPr>
        <p:spPr>
          <a:xfrm>
            <a:off x="3657599" y="2670048"/>
            <a:ext cx="15544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 i="0">
                <a:solidFill>
                  <a:srgbClr val="2E1B5B"/>
                </a:solidFill>
                <a:latin typeface="Calibri"/>
              </a:rPr>
              <a:t>Decrypt on Q-Day</a:t>
            </a:r>
          </a:p>
          <a:p>
            <a:pPr algn="ctr">
              <a:spcAft>
                <a:spcPts val="200"/>
              </a:spcAft>
            </a:pPr>
            <a:r>
              <a:rPr sz="1000" b="0" i="0">
                <a:solidFill>
                  <a:srgbClr val="6B5E8A"/>
                </a:solidFill>
                <a:latin typeface="Calibri"/>
              </a:rPr>
              <a:t>RSA-2048 ≈ 2037</a:t>
            </a:r>
          </a:p>
        </p:txBody>
      </p:sp>
      <p:sp>
        <p:nvSpPr>
          <p:cNvPr id="35" name="Text"/>
          <p:cNvSpPr txBox="1"/>
          <p:nvPr/>
        </p:nvSpPr>
        <p:spPr>
          <a:xfrm>
            <a:off x="502920" y="3246120"/>
            <a:ext cx="4572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 i="1">
                <a:solidFill>
                  <a:srgbClr val="6B5E8A"/>
                </a:solidFill>
                <a:latin typeface="Calibri"/>
              </a:rPr>
              <a:t>No team can answer:</a:t>
            </a:r>
          </a:p>
        </p:txBody>
      </p:sp>
      <p:sp>
        <p:nvSpPr>
          <p:cNvPr id="36" name="Pill"/>
          <p:cNvSpPr/>
          <p:nvPr/>
        </p:nvSpPr>
        <p:spPr>
          <a:xfrm>
            <a:off x="502920" y="3493008"/>
            <a:ext cx="1508760" cy="4206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430">
            <a:solidFill>
              <a:srgbClr val="B8BD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50" b="1">
                <a:solidFill>
                  <a:srgbClr val="2E1B5B"/>
                </a:solidFill>
                <a:latin typeface="Calibri"/>
              </a:rPr>
              <a:t>Which systems break first?</a:t>
            </a:r>
          </a:p>
        </p:txBody>
      </p:sp>
      <p:sp>
        <p:nvSpPr>
          <p:cNvPr id="37" name="Pill"/>
          <p:cNvSpPr/>
          <p:nvPr/>
        </p:nvSpPr>
        <p:spPr>
          <a:xfrm>
            <a:off x="2103120" y="3493008"/>
            <a:ext cx="1508760" cy="4206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430">
            <a:solidFill>
              <a:srgbClr val="B8BD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50" b="1">
                <a:solidFill>
                  <a:srgbClr val="2E1B5B"/>
                </a:solidFill>
                <a:latin typeface="Calibri"/>
              </a:rPr>
              <a:t>In what year?</a:t>
            </a:r>
          </a:p>
        </p:txBody>
      </p:sp>
      <p:sp>
        <p:nvSpPr>
          <p:cNvPr id="38" name="Pill"/>
          <p:cNvSpPr/>
          <p:nvPr/>
        </p:nvSpPr>
        <p:spPr>
          <a:xfrm>
            <a:off x="3703320" y="3493008"/>
            <a:ext cx="1508760" cy="4206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430">
            <a:solidFill>
              <a:srgbClr val="B8BD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50" b="1">
                <a:solidFill>
                  <a:srgbClr val="2E1B5B"/>
                </a:solidFill>
                <a:latin typeface="Calibri"/>
              </a:rPr>
              <a:t>Is today's data at risk?</a:t>
            </a:r>
          </a:p>
        </p:txBody>
      </p:sp>
      <p:sp>
        <p:nvSpPr>
          <p:cNvPr id="39" name="Text"/>
          <p:cNvSpPr txBox="1"/>
          <p:nvPr/>
        </p:nvSpPr>
        <p:spPr>
          <a:xfrm>
            <a:off x="502920" y="4041648"/>
            <a:ext cx="9601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 i="0">
                <a:solidFill>
                  <a:srgbClr val="E8639F"/>
                </a:solidFill>
                <a:latin typeface="Georgia"/>
              </a:rPr>
              <a:t>2035</a:t>
            </a:r>
          </a:p>
        </p:txBody>
      </p:sp>
      <p:sp>
        <p:nvSpPr>
          <p:cNvPr id="40" name="Text"/>
          <p:cNvSpPr txBox="1"/>
          <p:nvPr/>
        </p:nvSpPr>
        <p:spPr>
          <a:xfrm>
            <a:off x="1527048" y="4041648"/>
            <a:ext cx="13716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2E1B5B"/>
                </a:solidFill>
                <a:latin typeface="Calibri"/>
              </a:rPr>
              <a:t>NIST draft retires
RSA and ECC</a:t>
            </a:r>
          </a:p>
        </p:txBody>
      </p:sp>
      <p:sp>
        <p:nvSpPr>
          <p:cNvPr id="41" name="Text"/>
          <p:cNvSpPr txBox="1"/>
          <p:nvPr/>
        </p:nvSpPr>
        <p:spPr>
          <a:xfrm>
            <a:off x="2926080" y="4041648"/>
            <a:ext cx="9601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 i="0">
                <a:solidFill>
                  <a:srgbClr val="E8639F"/>
                </a:solidFill>
                <a:latin typeface="Georgia"/>
              </a:rPr>
              <a:t>1,399</a:t>
            </a:r>
          </a:p>
        </p:txBody>
      </p:sp>
      <p:sp>
        <p:nvSpPr>
          <p:cNvPr id="42" name="Text"/>
          <p:cNvSpPr txBox="1"/>
          <p:nvPr/>
        </p:nvSpPr>
        <p:spPr>
          <a:xfrm>
            <a:off x="3950208" y="4041648"/>
            <a:ext cx="13716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2E1B5B"/>
                </a:solidFill>
                <a:latin typeface="Calibri"/>
              </a:rPr>
              <a:t>logical qubits to
break RSA‑2048</a:t>
            </a:r>
          </a:p>
        </p:txBody>
      </p:sp>
      <p:pic>
        <p:nvPicPr>
          <p:cNvPr id="43" name="Screenshot tunnel_2026" descr="Q-Day Time Machine landing page at 2026 · safe today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40680" y="1755648"/>
            <a:ext cx="1536192" cy="1755648"/>
          </a:xfrm>
          <a:prstGeom prst="rect">
            <a:avLst/>
          </a:prstGeom>
          <a:ln w="12700">
            <a:solidFill>
              <a:srgbClr val="B8BDEB"/>
            </a:solidFill>
          </a:ln>
        </p:spPr>
      </p:pic>
      <p:sp>
        <p:nvSpPr>
          <p:cNvPr id="44" name="Text"/>
          <p:cNvSpPr txBox="1"/>
          <p:nvPr/>
        </p:nvSpPr>
        <p:spPr>
          <a:xfrm>
            <a:off x="5440680" y="3566160"/>
            <a:ext cx="153619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 i="0">
                <a:solidFill>
                  <a:srgbClr val="2F9E78"/>
                </a:solidFill>
                <a:latin typeface="Calibri"/>
              </a:rPr>
              <a:t>2026 · safe today</a:t>
            </a:r>
          </a:p>
          <a:p>
            <a:pPr algn="ctr">
              <a:spcAft>
                <a:spcPts val="200"/>
              </a:spcAft>
            </a:pPr>
            <a:r>
              <a:rPr sz="1000" b="0" i="0">
                <a:solidFill>
                  <a:srgbClr val="6B5E8A"/>
                </a:solidFill>
                <a:latin typeface="Calibri"/>
              </a:rPr>
              <a:t>every ring green</a:t>
            </a:r>
          </a:p>
        </p:txBody>
      </p:sp>
      <p:pic>
        <p:nvPicPr>
          <p:cNvPr id="45" name="Screenshot tunnel_2041" descr="Q-Day Time Machine landing page at 2041 · breakable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86600" y="1755648"/>
            <a:ext cx="1536192" cy="1755648"/>
          </a:xfrm>
          <a:prstGeom prst="rect">
            <a:avLst/>
          </a:prstGeom>
          <a:ln w="12700">
            <a:solidFill>
              <a:srgbClr val="B8BDEB"/>
            </a:solidFill>
          </a:ln>
        </p:spPr>
      </p:pic>
      <p:sp>
        <p:nvSpPr>
          <p:cNvPr id="46" name="Text"/>
          <p:cNvSpPr txBox="1"/>
          <p:nvPr/>
        </p:nvSpPr>
        <p:spPr>
          <a:xfrm>
            <a:off x="7086600" y="3566160"/>
            <a:ext cx="153619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 i="0">
                <a:solidFill>
                  <a:srgbClr val="E8639F"/>
                </a:solidFill>
                <a:latin typeface="Calibri"/>
              </a:rPr>
              <a:t>2041 · breakable</a:t>
            </a:r>
          </a:p>
          <a:p>
            <a:pPr algn="ctr">
              <a:spcAft>
                <a:spcPts val="200"/>
              </a:spcAft>
            </a:pPr>
            <a:r>
              <a:rPr sz="1000" b="0" i="0">
                <a:solidFill>
                  <a:srgbClr val="6B5E8A"/>
                </a:solidFill>
                <a:latin typeface="Calibri"/>
              </a:rPr>
              <a:t>RSA and ECC rings turn pink</a:t>
            </a:r>
          </a:p>
        </p:txBody>
      </p:sp>
      <p:sp>
        <p:nvSpPr>
          <p:cNvPr id="47" name="Text"/>
          <p:cNvSpPr txBox="1"/>
          <p:nvPr/>
        </p:nvSpPr>
        <p:spPr>
          <a:xfrm>
            <a:off x="5440680" y="4160520"/>
            <a:ext cx="3200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 i="1">
                <a:solidFill>
                  <a:srgbClr val="6B5E8A"/>
                </a:solidFill>
                <a:latin typeface="Calibri"/>
              </a:rPr>
              <a:t>Our Time Machine: each ring is one year on IBM's quantum roadmap.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4"/>
          <p:cNvSpPr>
            <a:spLocks noGrp="1"/>
          </p:cNvSpPr>
          <p:nvPr>
            <p:ph type="title" idx="120" hasCustomPrompt="1"/>
          </p:nvPr>
        </p:nvSpPr>
        <p:spPr>
          <a:xfrm>
            <a:off x="457200" y="841248"/>
            <a:ext cx="6309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2E1B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Objectives &amp; Novelty</a:t>
            </a:r>
            <a:endParaRPr lang="en-US" sz="2600" dirty="0"/>
          </a:p>
        </p:txBody>
      </p:sp>
      <p:sp>
        <p:nvSpPr>
          <p:cNvPr id="3" name="Title accent"/>
          <p:cNvSpPr/>
          <p:nvPr/>
        </p:nvSpPr>
        <p:spPr>
          <a:xfrm>
            <a:off x="457200" y="1463040"/>
            <a:ext cx="256032" cy="45720"/>
          </a:xfrm>
          <a:prstGeom prst="rect">
            <a:avLst/>
          </a:prstGeom>
          <a:solidFill>
            <a:srgbClr val="7C93F0"/>
          </a:solidFill>
          <a:ln w="12700">
            <a:solidFill>
              <a:srgbClr val="7C93F0"/>
            </a:solidFill>
            <a:prstDash val="solid"/>
          </a:ln>
        </p:spPr>
      </p:sp>
      <p:sp>
        <p:nvSpPr>
          <p:cNvPr id="4" name="Title accent"/>
          <p:cNvSpPr/>
          <p:nvPr/>
        </p:nvSpPr>
        <p:spPr>
          <a:xfrm>
            <a:off x="731520" y="1463040"/>
            <a:ext cx="256032" cy="45720"/>
          </a:xfrm>
          <a:prstGeom prst="rect">
            <a:avLst/>
          </a:prstGeom>
          <a:solidFill>
            <a:srgbClr val="E8639F"/>
          </a:solidFill>
          <a:ln w="12700">
            <a:solidFill>
              <a:srgbClr val="E8639F"/>
            </a:solidFill>
            <a:prstDash val="solid"/>
          </a:ln>
        </p:spPr>
      </p:sp>
      <p:sp>
        <p:nvSpPr>
          <p:cNvPr id="5" name="Title accent"/>
          <p:cNvSpPr/>
          <p:nvPr/>
        </p:nvSpPr>
        <p:spPr>
          <a:xfrm>
            <a:off x="1005840" y="1463040"/>
            <a:ext cx="256032" cy="45720"/>
          </a:xfrm>
          <a:prstGeom prst="rect">
            <a:avLst/>
          </a:prstGeom>
          <a:solidFill>
            <a:srgbClr val="5B3BA8"/>
          </a:solidFill>
          <a:ln w="12700">
            <a:solidFill>
              <a:srgbClr val="5B3BA8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6460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2E1B5B"/>
                </a:solidFill>
              </a:defRPr>
            </a:lvl1pPr>
          </a:lstStyle>
          <a:p>
            <a:pPr algn="r"/>
            <a:fld id="{F7021451-1387-4CA6-816F-3879F97B5CBC}" type="slidenum">
              <a:rPr lang="en-US" b="1"/>
              <a:t>3</a:t>
            </a:fld>
            <a:endParaRPr lang="en-US"/>
          </a:p>
        </p:txBody>
      </p:sp>
      <p:sp>
        <p:nvSpPr>
          <p:cNvPr id="26" name="Label"/>
          <p:cNvSpPr txBox="1"/>
          <p:nvPr/>
        </p:nvSpPr>
        <p:spPr>
          <a:xfrm>
            <a:off x="502920" y="1737360"/>
            <a:ext cx="3657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E8639F"/>
                </a:solidFill>
                <a:latin typeface="Calibri"/>
              </a:rPr>
              <a:t>WHAT IT DOES</a:t>
            </a:r>
          </a:p>
        </p:txBody>
      </p:sp>
      <p:sp>
        <p:nvSpPr>
          <p:cNvPr id="27" name="Card"/>
          <p:cNvSpPr/>
          <p:nvPr/>
        </p:nvSpPr>
        <p:spPr>
          <a:xfrm>
            <a:off x="502920" y="1984248"/>
            <a:ext cx="1517904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B8BD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8" name="Icon scan" descr="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" y="2130552"/>
            <a:ext cx="475488" cy="475488"/>
          </a:xfrm>
          <a:prstGeom prst="rect">
            <a:avLst/>
          </a:prstGeom>
        </p:spPr>
      </p:pic>
      <p:sp>
        <p:nvSpPr>
          <p:cNvPr id="29" name="Text"/>
          <p:cNvSpPr txBox="1"/>
          <p:nvPr/>
        </p:nvSpPr>
        <p:spPr>
          <a:xfrm>
            <a:off x="649224" y="2679191"/>
            <a:ext cx="1280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2E1B5B"/>
                </a:solidFill>
                <a:latin typeface="Calibri"/>
              </a:rPr>
              <a:t>Scan</a:t>
            </a:r>
          </a:p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6B5E8A"/>
                </a:solidFill>
                <a:latin typeface="Calibri"/>
              </a:rPr>
              <a:t>Websites + code, 8 languages</a:t>
            </a:r>
          </a:p>
        </p:txBody>
      </p:sp>
      <p:sp>
        <p:nvSpPr>
          <p:cNvPr id="30" name="Card"/>
          <p:cNvSpPr/>
          <p:nvPr/>
        </p:nvSpPr>
        <p:spPr>
          <a:xfrm>
            <a:off x="2112264" y="1984248"/>
            <a:ext cx="1517904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B8BD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1" name="Icon cbom" descr="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58568" y="2130552"/>
            <a:ext cx="475488" cy="475488"/>
          </a:xfrm>
          <a:prstGeom prst="rect">
            <a:avLst/>
          </a:prstGeom>
        </p:spPr>
      </p:pic>
      <p:sp>
        <p:nvSpPr>
          <p:cNvPr id="32" name="Text"/>
          <p:cNvSpPr txBox="1"/>
          <p:nvPr/>
        </p:nvSpPr>
        <p:spPr>
          <a:xfrm>
            <a:off x="2258568" y="2679191"/>
            <a:ext cx="1280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2E1B5B"/>
                </a:solidFill>
                <a:latin typeface="Calibri"/>
              </a:rPr>
              <a:t>Inventory</a:t>
            </a:r>
          </a:p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6B5E8A"/>
                </a:solidFill>
                <a:latin typeface="Calibri"/>
              </a:rPr>
              <a:t>CycloneDX 1.6 CBOM</a:t>
            </a:r>
          </a:p>
        </p:txBody>
      </p:sp>
      <p:sp>
        <p:nvSpPr>
          <p:cNvPr id="33" name="Card"/>
          <p:cNvSpPr/>
          <p:nvPr/>
        </p:nvSpPr>
        <p:spPr>
          <a:xfrm>
            <a:off x="3721608" y="1984248"/>
            <a:ext cx="1517904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B8BD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4" name="Icon forecast" descr="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67912" y="2130552"/>
            <a:ext cx="475488" cy="475488"/>
          </a:xfrm>
          <a:prstGeom prst="rect">
            <a:avLst/>
          </a:prstGeom>
        </p:spPr>
      </p:pic>
      <p:sp>
        <p:nvSpPr>
          <p:cNvPr id="35" name="Text"/>
          <p:cNvSpPr txBox="1"/>
          <p:nvPr/>
        </p:nvSpPr>
        <p:spPr>
          <a:xfrm>
            <a:off x="3867912" y="2679191"/>
            <a:ext cx="1280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2E1B5B"/>
                </a:solidFill>
                <a:latin typeface="Calibri"/>
              </a:rPr>
              <a:t>Forecast</a:t>
            </a:r>
          </a:p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6B5E8A"/>
                </a:solidFill>
                <a:latin typeface="Calibri"/>
              </a:rPr>
              <a:t>A break year per algorithm</a:t>
            </a:r>
          </a:p>
        </p:txBody>
      </p:sp>
      <p:sp>
        <p:nvSpPr>
          <p:cNvPr id="36" name="Card"/>
          <p:cNvSpPr/>
          <p:nvPr/>
        </p:nvSpPr>
        <p:spPr>
          <a:xfrm>
            <a:off x="502920" y="3310128"/>
            <a:ext cx="1517904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B8BD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7" name="Icon risk" descr="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9224" y="3456432"/>
            <a:ext cx="475488" cy="475488"/>
          </a:xfrm>
          <a:prstGeom prst="rect">
            <a:avLst/>
          </a:prstGeom>
        </p:spPr>
      </p:pic>
      <p:sp>
        <p:nvSpPr>
          <p:cNvPr id="38" name="Text"/>
          <p:cNvSpPr txBox="1"/>
          <p:nvPr/>
        </p:nvSpPr>
        <p:spPr>
          <a:xfrm>
            <a:off x="649224" y="4005072"/>
            <a:ext cx="1280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2E1B5B"/>
                </a:solidFill>
                <a:latin typeface="Calibri"/>
              </a:rPr>
              <a:t>Prioritise</a:t>
            </a:r>
          </a:p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6B5E8A"/>
                </a:solidFill>
                <a:latin typeface="Calibri"/>
              </a:rPr>
              <a:t>Mosca's rule + harvest window</a:t>
            </a:r>
          </a:p>
        </p:txBody>
      </p:sp>
      <p:sp>
        <p:nvSpPr>
          <p:cNvPr id="39" name="Card"/>
          <p:cNvSpPr/>
          <p:nvPr/>
        </p:nvSpPr>
        <p:spPr>
          <a:xfrm>
            <a:off x="2112264" y="3310128"/>
            <a:ext cx="1517904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B8BD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0" name="Icon prove" descr="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58568" y="3456432"/>
            <a:ext cx="475488" cy="475488"/>
          </a:xfrm>
          <a:prstGeom prst="rect">
            <a:avLst/>
          </a:prstGeom>
        </p:spPr>
      </p:pic>
      <p:sp>
        <p:nvSpPr>
          <p:cNvPr id="41" name="Text"/>
          <p:cNvSpPr txBox="1"/>
          <p:nvPr/>
        </p:nvSpPr>
        <p:spPr>
          <a:xfrm>
            <a:off x="2258568" y="4005072"/>
            <a:ext cx="1280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2E1B5B"/>
                </a:solidFill>
                <a:latin typeface="Calibri"/>
              </a:rPr>
              <a:t>Prove</a:t>
            </a:r>
          </a:p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6B5E8A"/>
                </a:solidFill>
                <a:latin typeface="Calibri"/>
              </a:rPr>
              <a:t>Shor &amp; Grover on IBM QPUs</a:t>
            </a:r>
          </a:p>
        </p:txBody>
      </p:sp>
      <p:sp>
        <p:nvSpPr>
          <p:cNvPr id="42" name="Card"/>
          <p:cNvSpPr/>
          <p:nvPr/>
        </p:nvSpPr>
        <p:spPr>
          <a:xfrm>
            <a:off x="3721608" y="3310128"/>
            <a:ext cx="1517904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B8BD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3" name="Icon fix" descr="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67912" y="3456432"/>
            <a:ext cx="475488" cy="475488"/>
          </a:xfrm>
          <a:prstGeom prst="rect">
            <a:avLst/>
          </a:prstGeom>
        </p:spPr>
      </p:pic>
      <p:sp>
        <p:nvSpPr>
          <p:cNvPr id="44" name="Text"/>
          <p:cNvSpPr txBox="1"/>
          <p:nvPr/>
        </p:nvSpPr>
        <p:spPr>
          <a:xfrm>
            <a:off x="3867912" y="4005072"/>
            <a:ext cx="1280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2E1B5B"/>
                </a:solidFill>
                <a:latin typeface="Calibri"/>
              </a:rPr>
              <a:t>Fix</a:t>
            </a:r>
          </a:p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6B5E8A"/>
                </a:solidFill>
                <a:latin typeface="Calibri"/>
              </a:rPr>
              <a:t>ML-KEM &amp; ML-DSA, live</a:t>
            </a:r>
          </a:p>
        </p:txBody>
      </p:sp>
      <p:sp>
        <p:nvSpPr>
          <p:cNvPr id="45" name="Card"/>
          <p:cNvSpPr/>
          <p:nvPr/>
        </p:nvSpPr>
        <p:spPr>
          <a:xfrm>
            <a:off x="5440680" y="1737360"/>
            <a:ext cx="3246120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B8BD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Label"/>
          <p:cNvSpPr txBox="1"/>
          <p:nvPr/>
        </p:nvSpPr>
        <p:spPr>
          <a:xfrm>
            <a:off x="5623560" y="1856231"/>
            <a:ext cx="2743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E8639F"/>
                </a:solidFill>
                <a:latin typeface="Calibri"/>
              </a:rPr>
              <a:t>WHAT'S NEW</a:t>
            </a:r>
          </a:p>
        </p:txBody>
      </p:sp>
      <p:pic>
        <p:nvPicPr>
          <p:cNvPr id="47" name="Icon timeline" descr="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623560" y="2148840"/>
            <a:ext cx="365760" cy="365760"/>
          </a:xfrm>
          <a:prstGeom prst="rect">
            <a:avLst/>
          </a:prstGeom>
        </p:spPr>
      </p:pic>
      <p:sp>
        <p:nvSpPr>
          <p:cNvPr id="48" name="Text"/>
          <p:cNvSpPr txBox="1"/>
          <p:nvPr/>
        </p:nvSpPr>
        <p:spPr>
          <a:xfrm>
            <a:off x="6108192" y="2148840"/>
            <a:ext cx="24688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 i="0">
                <a:solidFill>
                  <a:srgbClr val="2E1B5B"/>
                </a:solidFill>
                <a:latin typeface="Calibri"/>
              </a:rPr>
              <a:t>A timeline, not just an inventory</a:t>
            </a:r>
          </a:p>
        </p:txBody>
      </p:sp>
      <p:pic>
        <p:nvPicPr>
          <p:cNvPr id="49" name="Icon lock" descr="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623560" y="2633472"/>
            <a:ext cx="365760" cy="365760"/>
          </a:xfrm>
          <a:prstGeom prst="rect">
            <a:avLst/>
          </a:prstGeom>
        </p:spPr>
      </p:pic>
      <p:sp>
        <p:nvSpPr>
          <p:cNvPr id="50" name="Text"/>
          <p:cNvSpPr txBox="1"/>
          <p:nvPr/>
        </p:nvSpPr>
        <p:spPr>
          <a:xfrm>
            <a:off x="6108192" y="2633472"/>
            <a:ext cx="24688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 i="0">
                <a:solidFill>
                  <a:srgbClr val="2E1B5B"/>
                </a:solidFill>
                <a:latin typeface="Calibri"/>
              </a:rPr>
              <a:t>Hardware tests pre-registered in code</a:t>
            </a:r>
          </a:p>
        </p:txBody>
      </p:sp>
      <p:pic>
        <p:nvPicPr>
          <p:cNvPr id="51" name="Icon honest" descr="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623560" y="3118104"/>
            <a:ext cx="365760" cy="365760"/>
          </a:xfrm>
          <a:prstGeom prst="rect">
            <a:avLst/>
          </a:prstGeom>
        </p:spPr>
      </p:pic>
      <p:sp>
        <p:nvSpPr>
          <p:cNvPr id="52" name="Text"/>
          <p:cNvSpPr txBox="1"/>
          <p:nvPr/>
        </p:nvSpPr>
        <p:spPr>
          <a:xfrm>
            <a:off x="6108192" y="3118104"/>
            <a:ext cx="24688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 i="0">
                <a:solidFill>
                  <a:srgbClr val="2E1B5B"/>
                </a:solidFill>
                <a:latin typeface="Calibri"/>
              </a:rPr>
              <a:t>Circuits never encode the answer</a:t>
            </a:r>
          </a:p>
        </p:txBody>
      </p:sp>
      <p:pic>
        <p:nvPicPr>
          <p:cNvPr id="53" name="Icon debugger" descr="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623560" y="3602736"/>
            <a:ext cx="365760" cy="365760"/>
          </a:xfrm>
          <a:prstGeom prst="rect">
            <a:avLst/>
          </a:prstGeom>
        </p:spPr>
      </p:pic>
      <p:sp>
        <p:nvSpPr>
          <p:cNvPr id="54" name="Text"/>
          <p:cNvSpPr txBox="1"/>
          <p:nvPr/>
        </p:nvSpPr>
        <p:spPr>
          <a:xfrm>
            <a:off x="6108192" y="3602736"/>
            <a:ext cx="24688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 i="0">
                <a:solidFill>
                  <a:srgbClr val="2E1B5B"/>
                </a:solidFill>
                <a:latin typeface="Calibri"/>
              </a:rPr>
              <a:t>Second simulator: quantum-debugger</a:t>
            </a:r>
          </a:p>
        </p:txBody>
      </p:sp>
      <p:pic>
        <p:nvPicPr>
          <p:cNvPr id="55" name="Icon hybrid" descr="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623560" y="4087368"/>
            <a:ext cx="365760" cy="365760"/>
          </a:xfrm>
          <a:prstGeom prst="rect">
            <a:avLst/>
          </a:prstGeom>
        </p:spPr>
      </p:pic>
      <p:sp>
        <p:nvSpPr>
          <p:cNvPr id="56" name="Text"/>
          <p:cNvSpPr txBox="1"/>
          <p:nvPr/>
        </p:nvSpPr>
        <p:spPr>
          <a:xfrm>
            <a:off x="6108192" y="4087368"/>
            <a:ext cx="24688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 i="0">
                <a:solidFill>
                  <a:srgbClr val="2E1B5B"/>
                </a:solidFill>
                <a:latin typeface="Calibri"/>
              </a:rPr>
              <a:t>Detects hybrid post-quantum TLS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4"/>
          <p:cNvSpPr>
            <a:spLocks noGrp="1"/>
          </p:cNvSpPr>
          <p:nvPr>
            <p:ph type="title" idx="120" hasCustomPrompt="1"/>
          </p:nvPr>
        </p:nvSpPr>
        <p:spPr>
          <a:xfrm>
            <a:off x="457200" y="841248"/>
            <a:ext cx="6309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2E1B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Solution &amp; Quantum Advantage</a:t>
            </a:r>
            <a:endParaRPr lang="en-US" sz="2600" dirty="0"/>
          </a:p>
        </p:txBody>
      </p:sp>
      <p:sp>
        <p:nvSpPr>
          <p:cNvPr id="3" name="Title accent"/>
          <p:cNvSpPr/>
          <p:nvPr/>
        </p:nvSpPr>
        <p:spPr>
          <a:xfrm>
            <a:off x="457200" y="1463040"/>
            <a:ext cx="256032" cy="45720"/>
          </a:xfrm>
          <a:prstGeom prst="rect">
            <a:avLst/>
          </a:prstGeom>
          <a:solidFill>
            <a:srgbClr val="7C93F0"/>
          </a:solidFill>
          <a:ln w="12700">
            <a:solidFill>
              <a:srgbClr val="7C93F0"/>
            </a:solidFill>
            <a:prstDash val="solid"/>
          </a:ln>
        </p:spPr>
      </p:sp>
      <p:sp>
        <p:nvSpPr>
          <p:cNvPr id="4" name="Title accent"/>
          <p:cNvSpPr/>
          <p:nvPr/>
        </p:nvSpPr>
        <p:spPr>
          <a:xfrm>
            <a:off x="731520" y="1463040"/>
            <a:ext cx="256032" cy="45720"/>
          </a:xfrm>
          <a:prstGeom prst="rect">
            <a:avLst/>
          </a:prstGeom>
          <a:solidFill>
            <a:srgbClr val="E8639F"/>
          </a:solidFill>
          <a:ln w="12700">
            <a:solidFill>
              <a:srgbClr val="E8639F"/>
            </a:solidFill>
            <a:prstDash val="solid"/>
          </a:ln>
        </p:spPr>
      </p:sp>
      <p:sp>
        <p:nvSpPr>
          <p:cNvPr id="5" name="Title accent"/>
          <p:cNvSpPr/>
          <p:nvPr/>
        </p:nvSpPr>
        <p:spPr>
          <a:xfrm>
            <a:off x="1005840" y="1463040"/>
            <a:ext cx="256032" cy="45720"/>
          </a:xfrm>
          <a:prstGeom prst="rect">
            <a:avLst/>
          </a:prstGeom>
          <a:solidFill>
            <a:srgbClr val="5B3BA8"/>
          </a:solidFill>
          <a:ln w="12700">
            <a:solidFill>
              <a:srgbClr val="5B3BA8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6460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2E1B5B"/>
                </a:solidFill>
              </a:defRPr>
            </a:lvl1pPr>
          </a:lstStyle>
          <a:p>
            <a:pPr algn="r"/>
            <a:fld id="{F7021451-1387-4CA6-816F-3879F97B5CBC}" type="slidenum">
              <a:rPr lang="en-US" b="1"/>
              <a:t>4</a:t>
            </a:fld>
            <a:endParaRPr lang="en-US"/>
          </a:p>
        </p:txBody>
      </p:sp>
      <p:pic>
        <p:nvPicPr>
          <p:cNvPr id="26" name="Icon scan" descr="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" y="1737360"/>
            <a:ext cx="530352" cy="530352"/>
          </a:xfrm>
          <a:prstGeom prst="rect">
            <a:avLst/>
          </a:prstGeom>
        </p:spPr>
      </p:pic>
      <p:sp>
        <p:nvSpPr>
          <p:cNvPr id="27" name="Text"/>
          <p:cNvSpPr txBox="1"/>
          <p:nvPr/>
        </p:nvSpPr>
        <p:spPr>
          <a:xfrm>
            <a:off x="484632" y="2313432"/>
            <a:ext cx="131673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 i="0">
                <a:solidFill>
                  <a:srgbClr val="2E1B5B"/>
                </a:solidFill>
                <a:latin typeface="Calibri"/>
              </a:rPr>
              <a:t>Scan</a:t>
            </a:r>
          </a:p>
          <a:p>
            <a:pPr algn="ctr">
              <a:spcAft>
                <a:spcPts val="200"/>
              </a:spcAft>
            </a:pPr>
            <a:r>
              <a:rPr sz="1000" b="0" i="0">
                <a:solidFill>
                  <a:srgbClr val="6B5E8A"/>
                </a:solidFill>
                <a:latin typeface="Calibri"/>
              </a:rPr>
              <a:t>TLS + code</a:t>
            </a:r>
          </a:p>
        </p:txBody>
      </p:sp>
      <p:sp>
        <p:nvSpPr>
          <p:cNvPr id="28" name="Arrow"/>
          <p:cNvSpPr/>
          <p:nvPr/>
        </p:nvSpPr>
        <p:spPr>
          <a:xfrm>
            <a:off x="1490472" y="1929384"/>
            <a:ext cx="676656" cy="146304"/>
          </a:xfrm>
          <a:prstGeom prst="rightArrow">
            <a:avLst/>
          </a:prstGeom>
          <a:solidFill>
            <a:srgbClr val="B8B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Icon cbom" descr="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49424" y="1737360"/>
            <a:ext cx="530352" cy="530352"/>
          </a:xfrm>
          <a:prstGeom prst="rect">
            <a:avLst/>
          </a:prstGeom>
        </p:spPr>
      </p:pic>
      <p:sp>
        <p:nvSpPr>
          <p:cNvPr id="30" name="Text"/>
          <p:cNvSpPr txBox="1"/>
          <p:nvPr/>
        </p:nvSpPr>
        <p:spPr>
          <a:xfrm>
            <a:off x="1856232" y="2313432"/>
            <a:ext cx="131673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 i="0">
                <a:solidFill>
                  <a:srgbClr val="2E1B5B"/>
                </a:solidFill>
                <a:latin typeface="Calibri"/>
              </a:rPr>
              <a:t>CBOM</a:t>
            </a:r>
          </a:p>
          <a:p>
            <a:pPr algn="ctr">
              <a:spcAft>
                <a:spcPts val="200"/>
              </a:spcAft>
            </a:pPr>
            <a:r>
              <a:rPr sz="1000" b="0" i="0">
                <a:solidFill>
                  <a:srgbClr val="6B5E8A"/>
                </a:solidFill>
                <a:latin typeface="Calibri"/>
              </a:rPr>
              <a:t>CycloneDX 1.6</a:t>
            </a:r>
          </a:p>
        </p:txBody>
      </p:sp>
      <p:sp>
        <p:nvSpPr>
          <p:cNvPr id="31" name="Arrow"/>
          <p:cNvSpPr/>
          <p:nvPr/>
        </p:nvSpPr>
        <p:spPr>
          <a:xfrm>
            <a:off x="2862072" y="1929384"/>
            <a:ext cx="676656" cy="146304"/>
          </a:xfrm>
          <a:prstGeom prst="rightArrow">
            <a:avLst/>
          </a:prstGeom>
          <a:solidFill>
            <a:srgbClr val="B8B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Icon forecast" descr="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21024" y="1737360"/>
            <a:ext cx="530352" cy="530352"/>
          </a:xfrm>
          <a:prstGeom prst="rect">
            <a:avLst/>
          </a:prstGeom>
        </p:spPr>
      </p:pic>
      <p:sp>
        <p:nvSpPr>
          <p:cNvPr id="33" name="Text"/>
          <p:cNvSpPr txBox="1"/>
          <p:nvPr/>
        </p:nvSpPr>
        <p:spPr>
          <a:xfrm>
            <a:off x="3227832" y="2313432"/>
            <a:ext cx="131673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 i="0">
                <a:solidFill>
                  <a:srgbClr val="2E1B5B"/>
                </a:solidFill>
                <a:latin typeface="Calibri"/>
              </a:rPr>
              <a:t>Time Machine</a:t>
            </a:r>
          </a:p>
          <a:p>
            <a:pPr algn="ctr">
              <a:spcAft>
                <a:spcPts val="200"/>
              </a:spcAft>
            </a:pPr>
            <a:r>
              <a:rPr sz="1000" b="0" i="0">
                <a:solidFill>
                  <a:srgbClr val="6B5E8A"/>
                </a:solidFill>
                <a:latin typeface="Calibri"/>
              </a:rPr>
              <a:t>IBM roadmap</a:t>
            </a:r>
          </a:p>
        </p:txBody>
      </p:sp>
      <p:sp>
        <p:nvSpPr>
          <p:cNvPr id="34" name="Arrow"/>
          <p:cNvSpPr/>
          <p:nvPr/>
        </p:nvSpPr>
        <p:spPr>
          <a:xfrm>
            <a:off x="4233672" y="1929384"/>
            <a:ext cx="676656" cy="146304"/>
          </a:xfrm>
          <a:prstGeom prst="rightArrow">
            <a:avLst/>
          </a:prstGeom>
          <a:solidFill>
            <a:srgbClr val="B8B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Icon risk" descr="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92624" y="1737360"/>
            <a:ext cx="530352" cy="530352"/>
          </a:xfrm>
          <a:prstGeom prst="rect">
            <a:avLst/>
          </a:prstGeom>
        </p:spPr>
      </p:pic>
      <p:sp>
        <p:nvSpPr>
          <p:cNvPr id="36" name="Text"/>
          <p:cNvSpPr txBox="1"/>
          <p:nvPr/>
        </p:nvSpPr>
        <p:spPr>
          <a:xfrm>
            <a:off x="4599432" y="2313432"/>
            <a:ext cx="131673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 i="0">
                <a:solidFill>
                  <a:srgbClr val="2E1B5B"/>
                </a:solidFill>
                <a:latin typeface="Calibri"/>
              </a:rPr>
              <a:t>Risk</a:t>
            </a:r>
          </a:p>
          <a:p>
            <a:pPr algn="ctr">
              <a:spcAft>
                <a:spcPts val="200"/>
              </a:spcAft>
            </a:pPr>
            <a:r>
              <a:rPr sz="1000" b="0" i="0">
                <a:solidFill>
                  <a:srgbClr val="6B5E8A"/>
                </a:solidFill>
                <a:latin typeface="Calibri"/>
              </a:rPr>
              <a:t>Mosca's rule</a:t>
            </a:r>
          </a:p>
        </p:txBody>
      </p:sp>
      <p:sp>
        <p:nvSpPr>
          <p:cNvPr id="37" name="Arrow"/>
          <p:cNvSpPr/>
          <p:nvPr/>
        </p:nvSpPr>
        <p:spPr>
          <a:xfrm>
            <a:off x="5605272" y="1929384"/>
            <a:ext cx="676656" cy="146304"/>
          </a:xfrm>
          <a:prstGeom prst="rightArrow">
            <a:avLst/>
          </a:prstGeom>
          <a:solidFill>
            <a:srgbClr val="B8B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Icon prove" descr="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64224" y="1737360"/>
            <a:ext cx="530352" cy="530352"/>
          </a:xfrm>
          <a:prstGeom prst="rect">
            <a:avLst/>
          </a:prstGeom>
        </p:spPr>
      </p:pic>
      <p:sp>
        <p:nvSpPr>
          <p:cNvPr id="39" name="Text"/>
          <p:cNvSpPr txBox="1"/>
          <p:nvPr/>
        </p:nvSpPr>
        <p:spPr>
          <a:xfrm>
            <a:off x="5971032" y="2313432"/>
            <a:ext cx="131673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 i="0">
                <a:solidFill>
                  <a:srgbClr val="2E1B5B"/>
                </a:solidFill>
                <a:latin typeface="Calibri"/>
              </a:rPr>
              <a:t>Prove it</a:t>
            </a:r>
          </a:p>
          <a:p>
            <a:pPr algn="ctr">
              <a:spcAft>
                <a:spcPts val="200"/>
              </a:spcAft>
            </a:pPr>
            <a:r>
              <a:rPr sz="1000" b="0" i="0">
                <a:solidFill>
                  <a:srgbClr val="6B5E8A"/>
                </a:solidFill>
                <a:latin typeface="Calibri"/>
              </a:rPr>
              <a:t>IBM hardware</a:t>
            </a:r>
          </a:p>
        </p:txBody>
      </p:sp>
      <p:sp>
        <p:nvSpPr>
          <p:cNvPr id="40" name="Arrow"/>
          <p:cNvSpPr/>
          <p:nvPr/>
        </p:nvSpPr>
        <p:spPr>
          <a:xfrm>
            <a:off x="6976872" y="1929384"/>
            <a:ext cx="676656" cy="146304"/>
          </a:xfrm>
          <a:prstGeom prst="rightArrow">
            <a:avLst/>
          </a:prstGeom>
          <a:solidFill>
            <a:srgbClr val="B8B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Icon fix" descr="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35824" y="1737360"/>
            <a:ext cx="530352" cy="530352"/>
          </a:xfrm>
          <a:prstGeom prst="rect">
            <a:avLst/>
          </a:prstGeom>
        </p:spPr>
      </p:pic>
      <p:sp>
        <p:nvSpPr>
          <p:cNvPr id="42" name="Text"/>
          <p:cNvSpPr txBox="1"/>
          <p:nvPr/>
        </p:nvSpPr>
        <p:spPr>
          <a:xfrm>
            <a:off x="7342631" y="2313432"/>
            <a:ext cx="131673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 i="0">
                <a:solidFill>
                  <a:srgbClr val="2E1B5B"/>
                </a:solidFill>
                <a:latin typeface="Calibri"/>
              </a:rPr>
              <a:t>Migrate</a:t>
            </a:r>
          </a:p>
          <a:p>
            <a:pPr algn="ctr">
              <a:spcAft>
                <a:spcPts val="200"/>
              </a:spcAft>
            </a:pPr>
            <a:r>
              <a:rPr sz="1000" b="0" i="0">
                <a:solidFill>
                  <a:srgbClr val="6B5E8A"/>
                </a:solidFill>
                <a:latin typeface="Calibri"/>
              </a:rPr>
              <a:t>ML-KEM, ML-DSA</a:t>
            </a:r>
          </a:p>
        </p:txBody>
      </p:sp>
      <p:pic>
        <p:nvPicPr>
          <p:cNvPr id="43" name="Screenshot hero" descr="Q-Day Time Machine landing page with the 3D year tunnel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2920" y="2971800"/>
            <a:ext cx="2926080" cy="1645920"/>
          </a:xfrm>
          <a:prstGeom prst="rect">
            <a:avLst/>
          </a:prstGeom>
          <a:ln w="12700">
            <a:solidFill>
              <a:srgbClr val="B8BDEB"/>
            </a:solidFill>
          </a:ln>
        </p:spPr>
      </p:pic>
      <p:sp>
        <p:nvSpPr>
          <p:cNvPr id="44" name="Card"/>
          <p:cNvSpPr/>
          <p:nvPr/>
        </p:nvSpPr>
        <p:spPr>
          <a:xfrm>
            <a:off x="3520440" y="2971800"/>
            <a:ext cx="1645920" cy="1645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B8BD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"/>
          <p:cNvSpPr txBox="1"/>
          <p:nvPr/>
        </p:nvSpPr>
        <p:spPr>
          <a:xfrm>
            <a:off x="3657600" y="3108960"/>
            <a:ext cx="14173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100" b="1" i="0">
                <a:solidFill>
                  <a:srgbClr val="E8639F"/>
                </a:solidFill>
                <a:latin typeface="Georgia"/>
              </a:rPr>
              <a:t>Fast</a:t>
            </a:r>
          </a:p>
        </p:txBody>
      </p:sp>
      <p:sp>
        <p:nvSpPr>
          <p:cNvPr id="46" name="Text"/>
          <p:cNvSpPr txBox="1"/>
          <p:nvPr/>
        </p:nvSpPr>
        <p:spPr>
          <a:xfrm>
            <a:off x="3657600" y="3703320"/>
            <a:ext cx="14173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2E1B5B"/>
                </a:solidFill>
                <a:latin typeface="Calibri"/>
              </a:rPr>
              <a:t>Shor's algorithm</a:t>
            </a:r>
          </a:p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6B5E8A"/>
                </a:solidFill>
                <a:latin typeface="Calibri"/>
              </a:rPr>
              <a:t>polynomial time: breaks RSA and ECC</a:t>
            </a:r>
          </a:p>
        </p:txBody>
      </p:sp>
      <p:sp>
        <p:nvSpPr>
          <p:cNvPr id="47" name="Card"/>
          <p:cNvSpPr/>
          <p:nvPr/>
        </p:nvSpPr>
        <p:spPr>
          <a:xfrm>
            <a:off x="5257800" y="2971800"/>
            <a:ext cx="1645920" cy="1645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B8BD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"/>
          <p:cNvSpPr txBox="1"/>
          <p:nvPr/>
        </p:nvSpPr>
        <p:spPr>
          <a:xfrm>
            <a:off x="5394960" y="3108960"/>
            <a:ext cx="14173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100" b="1" i="0">
                <a:solidFill>
                  <a:srgbClr val="E8639F"/>
                </a:solidFill>
                <a:latin typeface="Georgia"/>
              </a:rPr>
              <a:t>√N</a:t>
            </a:r>
          </a:p>
        </p:txBody>
      </p:sp>
      <p:sp>
        <p:nvSpPr>
          <p:cNvPr id="49" name="Text"/>
          <p:cNvSpPr txBox="1"/>
          <p:nvPr/>
        </p:nvSpPr>
        <p:spPr>
          <a:xfrm>
            <a:off x="5394960" y="3703320"/>
            <a:ext cx="14173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2E1B5B"/>
                </a:solidFill>
                <a:latin typeface="Calibri"/>
              </a:rPr>
              <a:t>Grover's search</a:t>
            </a:r>
          </a:p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6B5E8A"/>
                </a:solidFill>
                <a:latin typeface="Calibri"/>
              </a:rPr>
              <a:t>halves symmetric key strength</a:t>
            </a:r>
          </a:p>
        </p:txBody>
      </p:sp>
      <p:sp>
        <p:nvSpPr>
          <p:cNvPr id="50" name="Card"/>
          <p:cNvSpPr/>
          <p:nvPr/>
        </p:nvSpPr>
        <p:spPr>
          <a:xfrm>
            <a:off x="6995160" y="2971800"/>
            <a:ext cx="1645920" cy="1645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B8BD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"/>
          <p:cNvSpPr txBox="1"/>
          <p:nvPr/>
        </p:nvSpPr>
        <p:spPr>
          <a:xfrm>
            <a:off x="7132320" y="3108960"/>
            <a:ext cx="14173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100" b="1" i="0">
                <a:solidFill>
                  <a:srgbClr val="E8639F"/>
                </a:solidFill>
                <a:latin typeface="Georgia"/>
              </a:rPr>
              <a:t>≈ 2037</a:t>
            </a:r>
          </a:p>
        </p:txBody>
      </p:sp>
      <p:sp>
        <p:nvSpPr>
          <p:cNvPr id="52" name="Text"/>
          <p:cNvSpPr txBox="1"/>
          <p:nvPr/>
        </p:nvSpPr>
        <p:spPr>
          <a:xfrm>
            <a:off x="7132320" y="3703320"/>
            <a:ext cx="14173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2E1B5B"/>
                </a:solidFill>
                <a:latin typeface="Calibri"/>
              </a:rPr>
              <a:t>RSA-2048 falls</a:t>
            </a:r>
          </a:p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6B5E8A"/>
                </a:solidFill>
                <a:latin typeface="Calibri"/>
              </a:rPr>
              <a:t>1,399 qubits, 6.5×10⁹ gates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4"/>
          <p:cNvSpPr>
            <a:spLocks noGrp="1"/>
          </p:cNvSpPr>
          <p:nvPr>
            <p:ph type="title" idx="120" hasCustomPrompt="1"/>
          </p:nvPr>
        </p:nvSpPr>
        <p:spPr>
          <a:xfrm>
            <a:off x="457200" y="841248"/>
            <a:ext cx="6309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2E1B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Algorithm &amp; Circuit Design</a:t>
            </a:r>
            <a:endParaRPr lang="en-US" sz="2600" dirty="0"/>
          </a:p>
        </p:txBody>
      </p:sp>
      <p:sp>
        <p:nvSpPr>
          <p:cNvPr id="3" name="Title accent"/>
          <p:cNvSpPr/>
          <p:nvPr/>
        </p:nvSpPr>
        <p:spPr>
          <a:xfrm>
            <a:off x="457200" y="1463040"/>
            <a:ext cx="256032" cy="45720"/>
          </a:xfrm>
          <a:prstGeom prst="rect">
            <a:avLst/>
          </a:prstGeom>
          <a:solidFill>
            <a:srgbClr val="7C93F0"/>
          </a:solidFill>
          <a:ln w="12700">
            <a:solidFill>
              <a:srgbClr val="7C93F0"/>
            </a:solidFill>
            <a:prstDash val="solid"/>
          </a:ln>
        </p:spPr>
      </p:sp>
      <p:sp>
        <p:nvSpPr>
          <p:cNvPr id="4" name="Title accent"/>
          <p:cNvSpPr/>
          <p:nvPr/>
        </p:nvSpPr>
        <p:spPr>
          <a:xfrm>
            <a:off x="731520" y="1463040"/>
            <a:ext cx="256032" cy="45720"/>
          </a:xfrm>
          <a:prstGeom prst="rect">
            <a:avLst/>
          </a:prstGeom>
          <a:solidFill>
            <a:srgbClr val="E8639F"/>
          </a:solidFill>
          <a:ln w="12700">
            <a:solidFill>
              <a:srgbClr val="E8639F"/>
            </a:solidFill>
            <a:prstDash val="solid"/>
          </a:ln>
        </p:spPr>
      </p:sp>
      <p:sp>
        <p:nvSpPr>
          <p:cNvPr id="5" name="Title accent"/>
          <p:cNvSpPr/>
          <p:nvPr/>
        </p:nvSpPr>
        <p:spPr>
          <a:xfrm>
            <a:off x="1005840" y="1463040"/>
            <a:ext cx="256032" cy="45720"/>
          </a:xfrm>
          <a:prstGeom prst="rect">
            <a:avLst/>
          </a:prstGeom>
          <a:solidFill>
            <a:srgbClr val="5B3BA8"/>
          </a:solidFill>
          <a:ln w="12700">
            <a:solidFill>
              <a:srgbClr val="5B3BA8"/>
            </a:solidFill>
            <a:prstDash val="solid"/>
          </a:ln>
        </p:spPr>
      </p:sp>
      <p:sp>
        <p:nvSpPr>
          <p:cNvPr id="6" name="Insert area"/>
          <p:cNvSpPr/>
          <p:nvPr/>
        </p:nvSpPr>
        <p:spPr>
          <a:xfrm>
            <a:off x="457200" y="1691640"/>
            <a:ext cx="4937760" cy="2926080"/>
          </a:xfrm>
          <a:prstGeom prst="roundRect">
            <a:avLst>
              <a:gd name="adj" fmla="val 2500"/>
            </a:avLst>
          </a:prstGeom>
          <a:solidFill>
            <a:srgbClr val="EEF0FE"/>
          </a:solidFill>
          <a:ln w="15875">
            <a:solidFill>
              <a:srgbClr val="7C93F0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640080" y="4187952"/>
            <a:ext cx="4572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300"/>
              </a:spcBef>
              <a:buNone/>
            </a:pPr>
            <a:r>
              <a:rPr lang="en-US" sz="1000" dirty="0">
                <a:solidFill>
                  <a:srgbClr val="6F7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 order finding for N = 15, a = 7 (4 counting + 4 work qubits)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6460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2E1B5B"/>
                </a:solidFill>
              </a:defRPr>
            </a:lvl1pPr>
          </a:lstStyle>
          <a:p>
            <a:pPr algn="r"/>
            <a:fld id="{F7021451-1387-4CA6-816F-3879F97B5CBC}" type="slidenum">
              <a:rPr lang="en-US" b="1"/>
              <a:t>5</a:t>
            </a:fld>
            <a:endParaRPr lang="en-US"/>
          </a:p>
        </p:txBody>
      </p:sp>
      <p:pic>
        <p:nvPicPr>
          <p:cNvPr id="26" name="Circuit diagram" descr="Shor order-finding circuit for N = 15, a = 7: four counting qubits with Hadamards, controlled modular multipliers, inverse QFT and measuremen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3812" y="1783080"/>
            <a:ext cx="3324535" cy="2377440"/>
          </a:xfrm>
          <a:prstGeom prst="rect">
            <a:avLst/>
          </a:prstGeom>
        </p:spPr>
      </p:pic>
      <p:sp>
        <p:nvSpPr>
          <p:cNvPr id="27" name="Label"/>
          <p:cNvSpPr txBox="1"/>
          <p:nvPr/>
        </p:nvSpPr>
        <p:spPr>
          <a:xfrm>
            <a:off x="5577840" y="1737360"/>
            <a:ext cx="3108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E8639F"/>
                </a:solidFill>
                <a:latin typeface="Calibri"/>
              </a:rPr>
              <a:t>SHOR · ORDER FINDING</a:t>
            </a:r>
          </a:p>
        </p:txBody>
      </p:sp>
      <p:sp>
        <p:nvSpPr>
          <p:cNvPr id="28" name="Pill"/>
          <p:cNvSpPr/>
          <p:nvPr/>
        </p:nvSpPr>
        <p:spPr>
          <a:xfrm>
            <a:off x="5577840" y="1984248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430">
            <a:solidFill>
              <a:srgbClr val="B8BD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50" b="1">
                <a:solidFill>
                  <a:srgbClr val="2E1B5B"/>
                </a:solidFill>
                <a:latin typeface="Calibri"/>
              </a:rPr>
              <a:t>Superpose</a:t>
            </a:r>
          </a:p>
        </p:txBody>
      </p:sp>
      <p:sp>
        <p:nvSpPr>
          <p:cNvPr id="29" name="Arrow"/>
          <p:cNvSpPr/>
          <p:nvPr/>
        </p:nvSpPr>
        <p:spPr>
          <a:xfrm>
            <a:off x="6510528" y="2093976"/>
            <a:ext cx="118872" cy="146304"/>
          </a:xfrm>
          <a:prstGeom prst="rightArrow">
            <a:avLst/>
          </a:prstGeom>
          <a:solidFill>
            <a:srgbClr val="B8B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Pill"/>
          <p:cNvSpPr/>
          <p:nvPr/>
        </p:nvSpPr>
        <p:spPr>
          <a:xfrm>
            <a:off x="6647688" y="1984248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430">
            <a:solidFill>
              <a:srgbClr val="B8BD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50" b="1">
                <a:solidFill>
                  <a:srgbClr val="2E1B5B"/>
                </a:solidFill>
                <a:latin typeface="Calibri"/>
              </a:rPr>
              <a:t>aˣ mod 15</a:t>
            </a:r>
          </a:p>
        </p:txBody>
      </p:sp>
      <p:sp>
        <p:nvSpPr>
          <p:cNvPr id="31" name="Arrow"/>
          <p:cNvSpPr/>
          <p:nvPr/>
        </p:nvSpPr>
        <p:spPr>
          <a:xfrm>
            <a:off x="7580375" y="2093976"/>
            <a:ext cx="118872" cy="146304"/>
          </a:xfrm>
          <a:prstGeom prst="rightArrow">
            <a:avLst/>
          </a:prstGeom>
          <a:solidFill>
            <a:srgbClr val="B8B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Pill"/>
          <p:cNvSpPr/>
          <p:nvPr/>
        </p:nvSpPr>
        <p:spPr>
          <a:xfrm>
            <a:off x="7717536" y="1984248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430">
            <a:solidFill>
              <a:srgbClr val="B8BD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50" b="1">
                <a:solidFill>
                  <a:srgbClr val="2E1B5B"/>
                </a:solidFill>
                <a:latin typeface="Calibri"/>
              </a:rPr>
              <a:t>QFT⁻¹</a:t>
            </a:r>
          </a:p>
        </p:txBody>
      </p:sp>
      <p:sp>
        <p:nvSpPr>
          <p:cNvPr id="33" name="Pill"/>
          <p:cNvSpPr/>
          <p:nvPr/>
        </p:nvSpPr>
        <p:spPr>
          <a:xfrm>
            <a:off x="5577840" y="2450592"/>
            <a:ext cx="1325880" cy="384048"/>
          </a:xfrm>
          <a:prstGeom prst="roundRect">
            <a:avLst>
              <a:gd name="adj" fmla="val 50000"/>
            </a:avLst>
          </a:prstGeom>
          <a:solidFill>
            <a:srgbClr val="EEF0FC"/>
          </a:solidFill>
          <a:ln w="11430">
            <a:solidFill>
              <a:srgbClr val="B8BD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100" b="1">
                <a:solidFill>
                  <a:srgbClr val="2E1B5B"/>
                </a:solidFill>
                <a:latin typeface="Calibri"/>
              </a:rPr>
              <a:t>period r = 4</a:t>
            </a:r>
          </a:p>
        </p:txBody>
      </p:sp>
      <p:sp>
        <p:nvSpPr>
          <p:cNvPr id="34" name="Arrow"/>
          <p:cNvSpPr/>
          <p:nvPr/>
        </p:nvSpPr>
        <p:spPr>
          <a:xfrm>
            <a:off x="6967728" y="2569464"/>
            <a:ext cx="274320" cy="146304"/>
          </a:xfrm>
          <a:prstGeom prst="rightArrow">
            <a:avLst/>
          </a:prstGeom>
          <a:solidFill>
            <a:srgbClr val="E86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Pill"/>
          <p:cNvSpPr/>
          <p:nvPr/>
        </p:nvSpPr>
        <p:spPr>
          <a:xfrm>
            <a:off x="7315200" y="2450592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E86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15 = 3 × 5</a:t>
            </a:r>
          </a:p>
        </p:txBody>
      </p:sp>
      <p:sp>
        <p:nvSpPr>
          <p:cNvPr id="36" name="Label"/>
          <p:cNvSpPr txBox="1"/>
          <p:nvPr/>
        </p:nvSpPr>
        <p:spPr>
          <a:xfrm>
            <a:off x="5577840" y="3017520"/>
            <a:ext cx="3108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E8639F"/>
                </a:solidFill>
                <a:latin typeface="Calibri"/>
              </a:rPr>
              <a:t>GROVER · KEY SEARCH</a:t>
            </a:r>
          </a:p>
        </p:txBody>
      </p:sp>
      <p:pic>
        <p:nvPicPr>
          <p:cNvPr id="37" name="Screenshot debug" descr="quantum-debugger step-through: amplitude of every key after the diffuser, and the key's probability following the sin squared law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77840" y="3246120"/>
            <a:ext cx="3108960" cy="1309036"/>
          </a:xfrm>
          <a:prstGeom prst="rect">
            <a:avLst/>
          </a:prstGeom>
          <a:ln w="12700">
            <a:solidFill>
              <a:srgbClr val="B8BDEB"/>
            </a:solidFill>
          </a:ln>
        </p:spPr>
      </p:pic>
      <p:sp>
        <p:nvSpPr>
          <p:cNvPr id="38" name="Text"/>
          <p:cNvSpPr txBox="1"/>
          <p:nvPr/>
        </p:nvSpPr>
        <p:spPr>
          <a:xfrm>
            <a:off x="5577840" y="4572000"/>
            <a:ext cx="31089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 i="1">
                <a:solidFill>
                  <a:srgbClr val="6B5E8A"/>
                </a:solidFill>
                <a:latin typeface="Calibri"/>
              </a:rPr>
              <a:t>Oracle flips the key's sign · diffuser amplifies it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4"/>
          <p:cNvSpPr>
            <a:spLocks noGrp="1"/>
          </p:cNvSpPr>
          <p:nvPr>
            <p:ph type="title" idx="120" hasCustomPrompt="1"/>
          </p:nvPr>
        </p:nvSpPr>
        <p:spPr>
          <a:xfrm>
            <a:off x="457200" y="841248"/>
            <a:ext cx="6309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2E1B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Implementation &amp; Tech Stack</a:t>
            </a:r>
            <a:endParaRPr lang="en-US" sz="2600" dirty="0"/>
          </a:p>
        </p:txBody>
      </p:sp>
      <p:sp>
        <p:nvSpPr>
          <p:cNvPr id="3" name="Title accent"/>
          <p:cNvSpPr/>
          <p:nvPr/>
        </p:nvSpPr>
        <p:spPr>
          <a:xfrm>
            <a:off x="457200" y="1463040"/>
            <a:ext cx="256032" cy="45720"/>
          </a:xfrm>
          <a:prstGeom prst="rect">
            <a:avLst/>
          </a:prstGeom>
          <a:solidFill>
            <a:srgbClr val="7C93F0"/>
          </a:solidFill>
          <a:ln w="12700">
            <a:solidFill>
              <a:srgbClr val="7C93F0"/>
            </a:solidFill>
            <a:prstDash val="solid"/>
          </a:ln>
        </p:spPr>
      </p:sp>
      <p:sp>
        <p:nvSpPr>
          <p:cNvPr id="4" name="Title accent"/>
          <p:cNvSpPr/>
          <p:nvPr/>
        </p:nvSpPr>
        <p:spPr>
          <a:xfrm>
            <a:off x="731520" y="1463040"/>
            <a:ext cx="256032" cy="45720"/>
          </a:xfrm>
          <a:prstGeom prst="rect">
            <a:avLst/>
          </a:prstGeom>
          <a:solidFill>
            <a:srgbClr val="E8639F"/>
          </a:solidFill>
          <a:ln w="12700">
            <a:solidFill>
              <a:srgbClr val="E8639F"/>
            </a:solidFill>
            <a:prstDash val="solid"/>
          </a:ln>
        </p:spPr>
      </p:sp>
      <p:sp>
        <p:nvSpPr>
          <p:cNvPr id="5" name="Title accent"/>
          <p:cNvSpPr/>
          <p:nvPr/>
        </p:nvSpPr>
        <p:spPr>
          <a:xfrm>
            <a:off x="1005840" y="1463040"/>
            <a:ext cx="256032" cy="45720"/>
          </a:xfrm>
          <a:prstGeom prst="rect">
            <a:avLst/>
          </a:prstGeom>
          <a:solidFill>
            <a:srgbClr val="5B3BA8"/>
          </a:solidFill>
          <a:ln w="12700">
            <a:solidFill>
              <a:srgbClr val="5B3BA8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6460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2E1B5B"/>
                </a:solidFill>
              </a:defRPr>
            </a:lvl1pPr>
          </a:lstStyle>
          <a:p>
            <a:pPr algn="r"/>
            <a:fld id="{F7021451-1387-4CA6-816F-3879F97B5CBC}" type="slidenum">
              <a:rPr lang="en-US" b="1"/>
              <a:t>6</a:t>
            </a:fld>
            <a:endParaRPr lang="en-US"/>
          </a:p>
        </p:txBody>
      </p:sp>
      <p:sp>
        <p:nvSpPr>
          <p:cNvPr id="26" name="Label"/>
          <p:cNvSpPr txBox="1"/>
          <p:nvPr/>
        </p:nvSpPr>
        <p:spPr>
          <a:xfrm>
            <a:off x="502920" y="1737360"/>
            <a:ext cx="2743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E8639F"/>
                </a:solidFill>
                <a:latin typeface="Calibri"/>
              </a:rPr>
              <a:t>INPUTS</a:t>
            </a:r>
          </a:p>
        </p:txBody>
      </p:sp>
      <p:sp>
        <p:nvSpPr>
          <p:cNvPr id="27" name="Card"/>
          <p:cNvSpPr/>
          <p:nvPr/>
        </p:nvSpPr>
        <p:spPr>
          <a:xfrm>
            <a:off x="502920" y="1993392"/>
            <a:ext cx="1691640" cy="4754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B8BD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8" name="Icon globe" descr="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" y="2057400"/>
            <a:ext cx="347472" cy="347472"/>
          </a:xfrm>
          <a:prstGeom prst="rect">
            <a:avLst/>
          </a:prstGeom>
        </p:spPr>
      </p:pic>
      <p:sp>
        <p:nvSpPr>
          <p:cNvPr id="29" name="Text"/>
          <p:cNvSpPr txBox="1"/>
          <p:nvPr/>
        </p:nvSpPr>
        <p:spPr>
          <a:xfrm>
            <a:off x="1005840" y="1993392"/>
            <a:ext cx="11430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2E1B5B"/>
                </a:solidFill>
                <a:latin typeface="Calibri"/>
              </a:rPr>
              <a:t>Websites (TLS)</a:t>
            </a:r>
          </a:p>
        </p:txBody>
      </p:sp>
      <p:sp>
        <p:nvSpPr>
          <p:cNvPr id="30" name="Card"/>
          <p:cNvSpPr/>
          <p:nvPr/>
        </p:nvSpPr>
        <p:spPr>
          <a:xfrm>
            <a:off x="502920" y="2560320"/>
            <a:ext cx="1691640" cy="4754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B8BD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1" name="Icon code" descr="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072" y="2624328"/>
            <a:ext cx="347472" cy="347472"/>
          </a:xfrm>
          <a:prstGeom prst="rect">
            <a:avLst/>
          </a:prstGeom>
        </p:spPr>
      </p:pic>
      <p:sp>
        <p:nvSpPr>
          <p:cNvPr id="32" name="Text"/>
          <p:cNvSpPr txBox="1"/>
          <p:nvPr/>
        </p:nvSpPr>
        <p:spPr>
          <a:xfrm>
            <a:off x="1005840" y="2560320"/>
            <a:ext cx="11430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2E1B5B"/>
                </a:solidFill>
                <a:latin typeface="Calibri"/>
              </a:rPr>
              <a:t>Source code</a:t>
            </a:r>
          </a:p>
        </p:txBody>
      </p:sp>
      <p:sp>
        <p:nvSpPr>
          <p:cNvPr id="33" name="Arrow"/>
          <p:cNvSpPr/>
          <p:nvPr/>
        </p:nvSpPr>
        <p:spPr>
          <a:xfrm>
            <a:off x="2267712" y="2377440"/>
            <a:ext cx="384048" cy="182880"/>
          </a:xfrm>
          <a:prstGeom prst="rightArrow">
            <a:avLst/>
          </a:prstGeom>
          <a:solidFill>
            <a:srgbClr val="B8B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Card"/>
          <p:cNvSpPr/>
          <p:nvPr/>
        </p:nvSpPr>
        <p:spPr>
          <a:xfrm>
            <a:off x="2724912" y="1828800"/>
            <a:ext cx="3200400" cy="1371600"/>
          </a:xfrm>
          <a:prstGeom prst="roundRect">
            <a:avLst>
              <a:gd name="adj" fmla="val 6000"/>
            </a:avLst>
          </a:prstGeom>
          <a:solidFill>
            <a:srgbClr val="EEF0FC"/>
          </a:solidFill>
          <a:ln w="11430">
            <a:solidFill>
              <a:srgbClr val="B8BD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"/>
          <p:cNvSpPr txBox="1"/>
          <p:nvPr/>
        </p:nvSpPr>
        <p:spPr>
          <a:xfrm>
            <a:off x="2862072" y="1901952"/>
            <a:ext cx="2926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5B3BA8"/>
                </a:solidFill>
                <a:latin typeface="Georgia"/>
              </a:rPr>
              <a:t>qday engine</a:t>
            </a:r>
          </a:p>
        </p:txBody>
      </p:sp>
      <p:sp>
        <p:nvSpPr>
          <p:cNvPr id="36" name="Card"/>
          <p:cNvSpPr/>
          <p:nvPr/>
        </p:nvSpPr>
        <p:spPr>
          <a:xfrm>
            <a:off x="2862072" y="2212848"/>
            <a:ext cx="1389888" cy="4023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B8BD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7" name="Icon scan" descr="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16936" y="2267712"/>
            <a:ext cx="292608" cy="292608"/>
          </a:xfrm>
          <a:prstGeom prst="rect">
            <a:avLst/>
          </a:prstGeom>
        </p:spPr>
      </p:pic>
      <p:sp>
        <p:nvSpPr>
          <p:cNvPr id="38" name="Text"/>
          <p:cNvSpPr txBox="1"/>
          <p:nvPr/>
        </p:nvSpPr>
        <p:spPr>
          <a:xfrm>
            <a:off x="3273552" y="2212848"/>
            <a:ext cx="96012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 i="0">
                <a:solidFill>
                  <a:srgbClr val="2E1B5B"/>
                </a:solidFill>
                <a:latin typeface="Calibri"/>
              </a:rPr>
              <a:t>Scanner</a:t>
            </a:r>
          </a:p>
        </p:txBody>
      </p:sp>
      <p:sp>
        <p:nvSpPr>
          <p:cNvPr id="39" name="Card"/>
          <p:cNvSpPr/>
          <p:nvPr/>
        </p:nvSpPr>
        <p:spPr>
          <a:xfrm>
            <a:off x="4343400" y="2212848"/>
            <a:ext cx="1389888" cy="4023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B8BD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0" name="Icon forecast" descr="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98264" y="2267712"/>
            <a:ext cx="292608" cy="292608"/>
          </a:xfrm>
          <a:prstGeom prst="rect">
            <a:avLst/>
          </a:prstGeom>
        </p:spPr>
      </p:pic>
      <p:sp>
        <p:nvSpPr>
          <p:cNvPr id="41" name="Text"/>
          <p:cNvSpPr txBox="1"/>
          <p:nvPr/>
        </p:nvSpPr>
        <p:spPr>
          <a:xfrm>
            <a:off x="4754880" y="2212848"/>
            <a:ext cx="96012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 i="0">
                <a:solidFill>
                  <a:srgbClr val="2E1B5B"/>
                </a:solidFill>
                <a:latin typeface="Calibri"/>
              </a:rPr>
              <a:t>Forecast</a:t>
            </a:r>
          </a:p>
        </p:txBody>
      </p:sp>
      <p:sp>
        <p:nvSpPr>
          <p:cNvPr id="42" name="Card"/>
          <p:cNvSpPr/>
          <p:nvPr/>
        </p:nvSpPr>
        <p:spPr>
          <a:xfrm>
            <a:off x="2862072" y="2688336"/>
            <a:ext cx="1389888" cy="4023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B8BD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3" name="Icon prove" descr="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16936" y="2743200"/>
            <a:ext cx="292608" cy="292608"/>
          </a:xfrm>
          <a:prstGeom prst="rect">
            <a:avLst/>
          </a:prstGeom>
        </p:spPr>
      </p:pic>
      <p:sp>
        <p:nvSpPr>
          <p:cNvPr id="44" name="Text"/>
          <p:cNvSpPr txBox="1"/>
          <p:nvPr/>
        </p:nvSpPr>
        <p:spPr>
          <a:xfrm>
            <a:off x="3273552" y="2688336"/>
            <a:ext cx="96012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 i="0">
                <a:solidFill>
                  <a:srgbClr val="2E1B5B"/>
                </a:solidFill>
                <a:latin typeface="Calibri"/>
              </a:rPr>
              <a:t>Quantum core</a:t>
            </a:r>
          </a:p>
        </p:txBody>
      </p:sp>
      <p:sp>
        <p:nvSpPr>
          <p:cNvPr id="45" name="Card"/>
          <p:cNvSpPr/>
          <p:nvPr/>
        </p:nvSpPr>
        <p:spPr>
          <a:xfrm>
            <a:off x="4343400" y="2688336"/>
            <a:ext cx="1389888" cy="4023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B8BD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6" name="Icon fix" descr="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98264" y="2743200"/>
            <a:ext cx="292608" cy="292608"/>
          </a:xfrm>
          <a:prstGeom prst="rect">
            <a:avLst/>
          </a:prstGeom>
        </p:spPr>
      </p:pic>
      <p:sp>
        <p:nvSpPr>
          <p:cNvPr id="47" name="Text"/>
          <p:cNvSpPr txBox="1"/>
          <p:nvPr/>
        </p:nvSpPr>
        <p:spPr>
          <a:xfrm>
            <a:off x="4754880" y="2688336"/>
            <a:ext cx="96012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 i="0">
                <a:solidFill>
                  <a:srgbClr val="2E1B5B"/>
                </a:solidFill>
                <a:latin typeface="Calibri"/>
              </a:rPr>
              <a:t>Post-quantum</a:t>
            </a:r>
          </a:p>
        </p:txBody>
      </p:sp>
      <p:sp>
        <p:nvSpPr>
          <p:cNvPr id="48" name="Arrow"/>
          <p:cNvSpPr/>
          <p:nvPr/>
        </p:nvSpPr>
        <p:spPr>
          <a:xfrm>
            <a:off x="5998464" y="2377440"/>
            <a:ext cx="384048" cy="182880"/>
          </a:xfrm>
          <a:prstGeom prst="rightArrow">
            <a:avLst/>
          </a:prstGeom>
          <a:solidFill>
            <a:srgbClr val="B8B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Label"/>
          <p:cNvSpPr txBox="1"/>
          <p:nvPr/>
        </p:nvSpPr>
        <p:spPr>
          <a:xfrm>
            <a:off x="6455664" y="1737360"/>
            <a:ext cx="2743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E8639F"/>
                </a:solidFill>
                <a:latin typeface="Calibri"/>
              </a:rPr>
              <a:t>OUTPUTS</a:t>
            </a:r>
          </a:p>
        </p:txBody>
      </p:sp>
      <p:sp>
        <p:nvSpPr>
          <p:cNvPr id="50" name="Card"/>
          <p:cNvSpPr/>
          <p:nvPr/>
        </p:nvSpPr>
        <p:spPr>
          <a:xfrm>
            <a:off x="6455664" y="1993392"/>
            <a:ext cx="2231136" cy="365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B8BD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1" name="Icon dashboard" descr="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10528" y="2039112"/>
            <a:ext cx="274320" cy="274320"/>
          </a:xfrm>
          <a:prstGeom prst="rect">
            <a:avLst/>
          </a:prstGeom>
        </p:spPr>
      </p:pic>
      <p:sp>
        <p:nvSpPr>
          <p:cNvPr id="52" name="Text"/>
          <p:cNvSpPr txBox="1"/>
          <p:nvPr/>
        </p:nvSpPr>
        <p:spPr>
          <a:xfrm>
            <a:off x="6858000" y="1993392"/>
            <a:ext cx="17830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2E1B5B"/>
                </a:solidFill>
                <a:latin typeface="Calibri"/>
              </a:rPr>
              <a:t>Dashboard + 3D site</a:t>
            </a:r>
          </a:p>
        </p:txBody>
      </p:sp>
      <p:sp>
        <p:nvSpPr>
          <p:cNvPr id="53" name="Card"/>
          <p:cNvSpPr/>
          <p:nvPr/>
        </p:nvSpPr>
        <p:spPr>
          <a:xfrm>
            <a:off x="6455664" y="2414016"/>
            <a:ext cx="2231136" cy="365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B8BD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4" name="Icon ci" descr="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10528" y="2459736"/>
            <a:ext cx="274320" cy="274320"/>
          </a:xfrm>
          <a:prstGeom prst="rect">
            <a:avLst/>
          </a:prstGeom>
        </p:spPr>
      </p:pic>
      <p:sp>
        <p:nvSpPr>
          <p:cNvPr id="55" name="Text"/>
          <p:cNvSpPr txBox="1"/>
          <p:nvPr/>
        </p:nvSpPr>
        <p:spPr>
          <a:xfrm>
            <a:off x="6858000" y="2414016"/>
            <a:ext cx="17830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2E1B5B"/>
                </a:solidFill>
                <a:latin typeface="Calibri"/>
              </a:rPr>
              <a:t>CLI · CI gate</a:t>
            </a:r>
          </a:p>
        </p:txBody>
      </p:sp>
      <p:sp>
        <p:nvSpPr>
          <p:cNvPr id="56" name="Card"/>
          <p:cNvSpPr/>
          <p:nvPr/>
        </p:nvSpPr>
        <p:spPr>
          <a:xfrm>
            <a:off x="6455664" y="2834640"/>
            <a:ext cx="2231136" cy="365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B8BD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7" name="Icon inventory" descr="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10528" y="2880360"/>
            <a:ext cx="274320" cy="274320"/>
          </a:xfrm>
          <a:prstGeom prst="rect">
            <a:avLst/>
          </a:prstGeom>
        </p:spPr>
      </p:pic>
      <p:sp>
        <p:nvSpPr>
          <p:cNvPr id="58" name="Text"/>
          <p:cNvSpPr txBox="1"/>
          <p:nvPr/>
        </p:nvSpPr>
        <p:spPr>
          <a:xfrm>
            <a:off x="6858000" y="2834640"/>
            <a:ext cx="17830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2E1B5B"/>
                </a:solidFill>
                <a:latin typeface="Calibri"/>
              </a:rPr>
              <a:t>CBOM file</a:t>
            </a:r>
          </a:p>
        </p:txBody>
      </p:sp>
      <p:sp>
        <p:nvSpPr>
          <p:cNvPr id="59" name="Label"/>
          <p:cNvSpPr txBox="1"/>
          <p:nvPr/>
        </p:nvSpPr>
        <p:spPr>
          <a:xfrm>
            <a:off x="502920" y="3401568"/>
            <a:ext cx="2743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E8639F"/>
                </a:solidFill>
                <a:latin typeface="Calibri"/>
              </a:rPr>
              <a:t>STACK</a:t>
            </a:r>
          </a:p>
        </p:txBody>
      </p:sp>
      <p:sp>
        <p:nvSpPr>
          <p:cNvPr id="60" name="Pill"/>
          <p:cNvSpPr/>
          <p:nvPr/>
        </p:nvSpPr>
        <p:spPr>
          <a:xfrm>
            <a:off x="502920" y="3639312"/>
            <a:ext cx="1064361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430">
            <a:solidFill>
              <a:srgbClr val="B8BD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50" b="0">
                <a:solidFill>
                  <a:srgbClr val="2E1B5B"/>
                </a:solidFill>
                <a:latin typeface="Calibri"/>
              </a:rPr>
              <a:t>Python 3.11+</a:t>
            </a:r>
          </a:p>
        </p:txBody>
      </p:sp>
      <p:sp>
        <p:nvSpPr>
          <p:cNvPr id="61" name="Pill"/>
          <p:cNvSpPr/>
          <p:nvPr/>
        </p:nvSpPr>
        <p:spPr>
          <a:xfrm>
            <a:off x="1658721" y="3639312"/>
            <a:ext cx="1327708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430">
            <a:solidFill>
              <a:srgbClr val="B8BD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50" b="0">
                <a:solidFill>
                  <a:srgbClr val="2E1B5B"/>
                </a:solidFill>
                <a:latin typeface="Calibri"/>
              </a:rPr>
              <a:t>Qiskit 2.1 + Aer</a:t>
            </a:r>
          </a:p>
        </p:txBody>
      </p:sp>
      <p:sp>
        <p:nvSpPr>
          <p:cNvPr id="62" name="Pill"/>
          <p:cNvSpPr/>
          <p:nvPr/>
        </p:nvSpPr>
        <p:spPr>
          <a:xfrm>
            <a:off x="3077870" y="3639312"/>
            <a:ext cx="998524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430">
            <a:solidFill>
              <a:srgbClr val="B8BD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50" b="0">
                <a:solidFill>
                  <a:srgbClr val="2E1B5B"/>
                </a:solidFill>
                <a:latin typeface="Calibri"/>
              </a:rPr>
              <a:t>IBM Runtime</a:t>
            </a:r>
          </a:p>
        </p:txBody>
      </p:sp>
      <p:sp>
        <p:nvSpPr>
          <p:cNvPr id="63" name="Pill"/>
          <p:cNvSpPr/>
          <p:nvPr/>
        </p:nvSpPr>
        <p:spPr>
          <a:xfrm>
            <a:off x="4167835" y="3639312"/>
            <a:ext cx="1327708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430">
            <a:solidFill>
              <a:srgbClr val="B8BD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50" b="0">
                <a:solidFill>
                  <a:srgbClr val="2E1B5B"/>
                </a:solidFill>
                <a:latin typeface="Calibri"/>
              </a:rPr>
              <a:t>quantum‑debugger</a:t>
            </a:r>
          </a:p>
        </p:txBody>
      </p:sp>
      <p:sp>
        <p:nvSpPr>
          <p:cNvPr id="64" name="Pill"/>
          <p:cNvSpPr/>
          <p:nvPr/>
        </p:nvSpPr>
        <p:spPr>
          <a:xfrm>
            <a:off x="502920" y="4059936"/>
            <a:ext cx="126187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430">
            <a:solidFill>
              <a:srgbClr val="B8BD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50" b="0">
                <a:solidFill>
                  <a:srgbClr val="2E1B5B"/>
                </a:solidFill>
                <a:latin typeface="Calibri"/>
              </a:rPr>
              <a:t>ML‑KEM + ML‑DSA</a:t>
            </a:r>
          </a:p>
        </p:txBody>
      </p:sp>
      <p:sp>
        <p:nvSpPr>
          <p:cNvPr id="65" name="Pill"/>
          <p:cNvSpPr/>
          <p:nvPr/>
        </p:nvSpPr>
        <p:spPr>
          <a:xfrm>
            <a:off x="1856232" y="4059936"/>
            <a:ext cx="866851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430">
            <a:solidFill>
              <a:srgbClr val="B8BD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50" b="0">
                <a:solidFill>
                  <a:srgbClr val="2E1B5B"/>
                </a:solidFill>
                <a:latin typeface="Calibri"/>
              </a:rPr>
              <a:t>Streamlit</a:t>
            </a:r>
          </a:p>
        </p:txBody>
      </p:sp>
      <p:sp>
        <p:nvSpPr>
          <p:cNvPr id="66" name="Pill"/>
          <p:cNvSpPr/>
          <p:nvPr/>
        </p:nvSpPr>
        <p:spPr>
          <a:xfrm>
            <a:off x="2814523" y="4059936"/>
            <a:ext cx="1525219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430">
            <a:solidFill>
              <a:srgbClr val="B8BD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50" b="0">
                <a:solidFill>
                  <a:srgbClr val="2E1B5B"/>
                </a:solidFill>
                <a:latin typeface="Calibri"/>
              </a:rPr>
              <a:t>pytest + Hypothesis</a:t>
            </a:r>
          </a:p>
        </p:txBody>
      </p:sp>
      <p:sp>
        <p:nvSpPr>
          <p:cNvPr id="67" name="Pill"/>
          <p:cNvSpPr/>
          <p:nvPr/>
        </p:nvSpPr>
        <p:spPr>
          <a:xfrm>
            <a:off x="4431182" y="4059936"/>
            <a:ext cx="998524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430">
            <a:solidFill>
              <a:srgbClr val="B8BD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50" b="0">
                <a:solidFill>
                  <a:srgbClr val="2E1B5B"/>
                </a:solidFill>
                <a:latin typeface="Calibri"/>
              </a:rPr>
              <a:t>Docker + CI</a:t>
            </a:r>
          </a:p>
        </p:txBody>
      </p:sp>
      <p:sp>
        <p:nvSpPr>
          <p:cNvPr id="68" name="Card"/>
          <p:cNvSpPr/>
          <p:nvPr/>
        </p:nvSpPr>
        <p:spPr>
          <a:xfrm>
            <a:off x="6355080" y="3401568"/>
            <a:ext cx="2331720" cy="1216152"/>
          </a:xfrm>
          <a:prstGeom prst="roundRect">
            <a:avLst>
              <a:gd name="adj" fmla="val 6000"/>
            </a:avLst>
          </a:prstGeom>
          <a:solidFill>
            <a:srgbClr val="2E1B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" name="Text"/>
          <p:cNvSpPr txBox="1"/>
          <p:nvPr/>
        </p:nvSpPr>
        <p:spPr>
          <a:xfrm>
            <a:off x="6537960" y="3493008"/>
            <a:ext cx="2011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 i="0">
                <a:solidFill>
                  <a:srgbClr val="FFFFFF"/>
                </a:solidFill>
                <a:latin typeface="Georgia"/>
              </a:rPr>
              <a:t>1,002</a:t>
            </a:r>
          </a:p>
        </p:txBody>
      </p:sp>
      <p:sp>
        <p:nvSpPr>
          <p:cNvPr id="70" name="Text"/>
          <p:cNvSpPr txBox="1"/>
          <p:nvPr/>
        </p:nvSpPr>
        <p:spPr>
          <a:xfrm>
            <a:off x="6537960" y="4069080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D9CCE3"/>
                </a:solidFill>
                <a:latin typeface="Calibri"/>
              </a:rPr>
              <a:t>automated tests · 96% coverage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4"/>
          <p:cNvSpPr>
            <a:spLocks noGrp="1"/>
          </p:cNvSpPr>
          <p:nvPr>
            <p:ph type="title" idx="120" hasCustomPrompt="1"/>
          </p:nvPr>
        </p:nvSpPr>
        <p:spPr>
          <a:xfrm>
            <a:off x="457200" y="841248"/>
            <a:ext cx="6309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2E1B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Results &amp; Analysis</a:t>
            </a:r>
            <a:endParaRPr lang="en-US" sz="2600" dirty="0"/>
          </a:p>
        </p:txBody>
      </p:sp>
      <p:sp>
        <p:nvSpPr>
          <p:cNvPr id="3" name="Title accent"/>
          <p:cNvSpPr/>
          <p:nvPr/>
        </p:nvSpPr>
        <p:spPr>
          <a:xfrm>
            <a:off x="457200" y="1463040"/>
            <a:ext cx="256032" cy="45720"/>
          </a:xfrm>
          <a:prstGeom prst="rect">
            <a:avLst/>
          </a:prstGeom>
          <a:solidFill>
            <a:srgbClr val="7C93F0"/>
          </a:solidFill>
          <a:ln w="12700">
            <a:solidFill>
              <a:srgbClr val="7C93F0"/>
            </a:solidFill>
            <a:prstDash val="solid"/>
          </a:ln>
        </p:spPr>
      </p:sp>
      <p:sp>
        <p:nvSpPr>
          <p:cNvPr id="4" name="Title accent"/>
          <p:cNvSpPr/>
          <p:nvPr/>
        </p:nvSpPr>
        <p:spPr>
          <a:xfrm>
            <a:off x="731520" y="1463040"/>
            <a:ext cx="256032" cy="45720"/>
          </a:xfrm>
          <a:prstGeom prst="rect">
            <a:avLst/>
          </a:prstGeom>
          <a:solidFill>
            <a:srgbClr val="E8639F"/>
          </a:solidFill>
          <a:ln w="12700">
            <a:solidFill>
              <a:srgbClr val="E8639F"/>
            </a:solidFill>
            <a:prstDash val="solid"/>
          </a:ln>
        </p:spPr>
      </p:sp>
      <p:sp>
        <p:nvSpPr>
          <p:cNvPr id="5" name="Title accent"/>
          <p:cNvSpPr/>
          <p:nvPr/>
        </p:nvSpPr>
        <p:spPr>
          <a:xfrm>
            <a:off x="1005840" y="1463040"/>
            <a:ext cx="256032" cy="45720"/>
          </a:xfrm>
          <a:prstGeom prst="rect">
            <a:avLst/>
          </a:prstGeom>
          <a:solidFill>
            <a:srgbClr val="5B3BA8"/>
          </a:solidFill>
          <a:ln w="12700">
            <a:solidFill>
              <a:srgbClr val="5B3BA8"/>
            </a:solidFill>
            <a:prstDash val="solid"/>
          </a:ln>
        </p:spPr>
      </p:sp>
      <p:sp>
        <p:nvSpPr>
          <p:cNvPr id="6" name="Insert area"/>
          <p:cNvSpPr/>
          <p:nvPr/>
        </p:nvSpPr>
        <p:spPr>
          <a:xfrm>
            <a:off x="457200" y="1691640"/>
            <a:ext cx="4937760" cy="2926080"/>
          </a:xfrm>
          <a:prstGeom prst="roundRect">
            <a:avLst>
              <a:gd name="adj" fmla="val 2500"/>
            </a:avLst>
          </a:prstGeom>
          <a:solidFill>
            <a:srgbClr val="EEF0FE"/>
          </a:solidFill>
          <a:ln w="15875">
            <a:solidFill>
              <a:srgbClr val="7C93F0"/>
            </a:solidFill>
            <a:prstDash val="dash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6460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2E1B5B"/>
                </a:solidFill>
              </a:defRPr>
            </a:lvl1pPr>
          </a:lstStyle>
          <a:p>
            <a:pPr algn="r"/>
            <a:fld id="{F7021451-1387-4CA6-816F-3879F97B5CBC}" type="slidenum">
              <a:rPr lang="en-US" b="1"/>
              <a:t>7</a:t>
            </a:fld>
            <a:endParaRPr lang="en-US"/>
          </a:p>
        </p:txBody>
      </p:sp>
      <p:graphicFrame>
        <p:nvGraphicFramePr>
          <p:cNvPr id="26" name="Results chart" descr="Column chart of success rates on ibm_marrakesh against the noise or random-guess baseline for five circuits"/>
          <p:cNvGraphicFramePr>
            <a:graphicFrameLocks noGrp="1"/>
          </p:cNvGraphicFramePr>
          <p:nvPr/>
        </p:nvGraphicFramePr>
        <p:xfrm>
          <a:off x="548640" y="1783080"/>
          <a:ext cx="475488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7" name="Card"/>
          <p:cNvSpPr/>
          <p:nvPr/>
        </p:nvSpPr>
        <p:spPr>
          <a:xfrm>
            <a:off x="5577840" y="1691640"/>
            <a:ext cx="3108960" cy="914400"/>
          </a:xfrm>
          <a:prstGeom prst="roundRect">
            <a:avLst>
              <a:gd name="adj" fmla="val 6000"/>
            </a:avLst>
          </a:prstGeom>
          <a:solidFill>
            <a:srgbClr val="2E1B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"/>
          <p:cNvSpPr txBox="1"/>
          <p:nvPr/>
        </p:nvSpPr>
        <p:spPr>
          <a:xfrm>
            <a:off x="5760720" y="1764792"/>
            <a:ext cx="132588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 i="0">
                <a:solidFill>
                  <a:srgbClr val="FFFFFF"/>
                </a:solidFill>
                <a:latin typeface="Georgia"/>
              </a:rPr>
              <a:t>45 / 45</a:t>
            </a:r>
          </a:p>
        </p:txBody>
      </p:sp>
      <p:sp>
        <p:nvSpPr>
          <p:cNvPr id="29" name="Text"/>
          <p:cNvSpPr txBox="1"/>
          <p:nvPr/>
        </p:nvSpPr>
        <p:spPr>
          <a:xfrm>
            <a:off x="7086600" y="1764792"/>
            <a:ext cx="150876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E9E0F2"/>
                </a:solidFill>
                <a:latin typeface="Calibri"/>
              </a:rPr>
              <a:t>validation tests passed on 3 IBM quantum computers</a:t>
            </a:r>
          </a:p>
        </p:txBody>
      </p:sp>
      <p:sp>
        <p:nvSpPr>
          <p:cNvPr id="30" name="Card"/>
          <p:cNvSpPr/>
          <p:nvPr/>
        </p:nvSpPr>
        <p:spPr>
          <a:xfrm>
            <a:off x="5577840" y="2697480"/>
            <a:ext cx="310896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B8BD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"/>
          <p:cNvSpPr txBox="1"/>
          <p:nvPr/>
        </p:nvSpPr>
        <p:spPr>
          <a:xfrm>
            <a:off x="5760720" y="2770632"/>
            <a:ext cx="132588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 i="0">
                <a:solidFill>
                  <a:srgbClr val="E8639F"/>
                </a:solidFill>
                <a:latin typeface="Georgia"/>
              </a:rPr>
              <a:t>24 / 24</a:t>
            </a:r>
          </a:p>
        </p:txBody>
      </p:sp>
      <p:sp>
        <p:nvSpPr>
          <p:cNvPr id="32" name="Text"/>
          <p:cNvSpPr txBox="1"/>
          <p:nvPr/>
        </p:nvSpPr>
        <p:spPr>
          <a:xfrm>
            <a:off x="7086600" y="2770632"/>
            <a:ext cx="150876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2E1B5B"/>
                </a:solidFill>
                <a:latin typeface="Calibri"/>
              </a:rPr>
              <a:t>strict Shor tests: every machine, every placement</a:t>
            </a:r>
          </a:p>
        </p:txBody>
      </p:sp>
      <p:sp>
        <p:nvSpPr>
          <p:cNvPr id="33" name="Card"/>
          <p:cNvSpPr/>
          <p:nvPr/>
        </p:nvSpPr>
        <p:spPr>
          <a:xfrm>
            <a:off x="5577840" y="3703320"/>
            <a:ext cx="310896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B8BD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"/>
          <p:cNvSpPr txBox="1"/>
          <p:nvPr/>
        </p:nvSpPr>
        <p:spPr>
          <a:xfrm>
            <a:off x="5760720" y="3776472"/>
            <a:ext cx="132588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 i="0">
                <a:solidFill>
                  <a:srgbClr val="E8639F"/>
                </a:solidFill>
                <a:latin typeface="Georgia"/>
              </a:rPr>
              <a:t>14 / 14</a:t>
            </a:r>
          </a:p>
        </p:txBody>
      </p:sp>
      <p:sp>
        <p:nvSpPr>
          <p:cNvPr id="35" name="Text"/>
          <p:cNvSpPr txBox="1"/>
          <p:nvPr/>
        </p:nvSpPr>
        <p:spPr>
          <a:xfrm>
            <a:off x="7086600" y="3776472"/>
            <a:ext cx="150876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2E1B5B"/>
                </a:solidFill>
                <a:latin typeface="Calibri"/>
              </a:rPr>
              <a:t>every pre-registered rule on ibm_kingston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4"/>
          <p:cNvSpPr>
            <a:spLocks noGrp="1"/>
          </p:cNvSpPr>
          <p:nvPr>
            <p:ph type="title" idx="120" hasCustomPrompt="1"/>
          </p:nvPr>
        </p:nvSpPr>
        <p:spPr>
          <a:xfrm>
            <a:off x="457200" y="841248"/>
            <a:ext cx="6309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2E1B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Impact &amp; Real-World Applications</a:t>
            </a:r>
            <a:endParaRPr lang="en-US" sz="2600" dirty="0"/>
          </a:p>
        </p:txBody>
      </p:sp>
      <p:sp>
        <p:nvSpPr>
          <p:cNvPr id="3" name="Title accent"/>
          <p:cNvSpPr/>
          <p:nvPr/>
        </p:nvSpPr>
        <p:spPr>
          <a:xfrm>
            <a:off x="457200" y="1463040"/>
            <a:ext cx="256032" cy="45720"/>
          </a:xfrm>
          <a:prstGeom prst="rect">
            <a:avLst/>
          </a:prstGeom>
          <a:solidFill>
            <a:srgbClr val="7C93F0"/>
          </a:solidFill>
          <a:ln w="12700">
            <a:solidFill>
              <a:srgbClr val="7C93F0"/>
            </a:solidFill>
            <a:prstDash val="solid"/>
          </a:ln>
        </p:spPr>
      </p:sp>
      <p:sp>
        <p:nvSpPr>
          <p:cNvPr id="4" name="Title accent"/>
          <p:cNvSpPr/>
          <p:nvPr/>
        </p:nvSpPr>
        <p:spPr>
          <a:xfrm>
            <a:off x="731520" y="1463040"/>
            <a:ext cx="256032" cy="45720"/>
          </a:xfrm>
          <a:prstGeom prst="rect">
            <a:avLst/>
          </a:prstGeom>
          <a:solidFill>
            <a:srgbClr val="E8639F"/>
          </a:solidFill>
          <a:ln w="12700">
            <a:solidFill>
              <a:srgbClr val="E8639F"/>
            </a:solidFill>
            <a:prstDash val="solid"/>
          </a:ln>
        </p:spPr>
      </p:sp>
      <p:sp>
        <p:nvSpPr>
          <p:cNvPr id="5" name="Title accent"/>
          <p:cNvSpPr/>
          <p:nvPr/>
        </p:nvSpPr>
        <p:spPr>
          <a:xfrm>
            <a:off x="1005840" y="1463040"/>
            <a:ext cx="256032" cy="45720"/>
          </a:xfrm>
          <a:prstGeom prst="rect">
            <a:avLst/>
          </a:prstGeom>
          <a:solidFill>
            <a:srgbClr val="5B3BA8"/>
          </a:solidFill>
          <a:ln w="12700">
            <a:solidFill>
              <a:srgbClr val="5B3BA8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6460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2E1B5B"/>
                </a:solidFill>
              </a:defRPr>
            </a:lvl1pPr>
          </a:lstStyle>
          <a:p>
            <a:pPr algn="r"/>
            <a:fld id="{F7021451-1387-4CA6-816F-3879F97B5CBC}" type="slidenum">
              <a:rPr lang="en-US" b="1"/>
              <a:t>8</a:t>
            </a:fld>
            <a:endParaRPr lang="en-US"/>
          </a:p>
        </p:txBody>
      </p:sp>
      <p:sp>
        <p:nvSpPr>
          <p:cNvPr id="26" name="Label"/>
          <p:cNvSpPr txBox="1"/>
          <p:nvPr/>
        </p:nvSpPr>
        <p:spPr>
          <a:xfrm>
            <a:off x="502920" y="1737360"/>
            <a:ext cx="41148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E8639F"/>
                </a:solidFill>
                <a:latin typeface="Calibri"/>
              </a:rPr>
              <a:t>WE SCANNED OUR OWN WEBSITE FIRST</a:t>
            </a:r>
          </a:p>
        </p:txBody>
      </p:sp>
      <p:pic>
        <p:nvPicPr>
          <p:cNvPr id="27" name="Screenshot scan" descr="Dashboard scan result for quantyxio.cloud plus the sample code: findings grouped into fix now, plan migration and already saf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965960"/>
            <a:ext cx="3656010" cy="2212848"/>
          </a:xfrm>
          <a:prstGeom prst="rect">
            <a:avLst/>
          </a:prstGeom>
          <a:ln w="12700">
            <a:solidFill>
              <a:srgbClr val="B8BDEB"/>
            </a:solidFill>
          </a:ln>
        </p:spPr>
      </p:pic>
      <p:pic>
        <p:nvPicPr>
          <p:cNvPr id="28" name="Icon check" descr="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4297680"/>
            <a:ext cx="274320" cy="274320"/>
          </a:xfrm>
          <a:prstGeom prst="rect">
            <a:avLst/>
          </a:prstGeom>
        </p:spPr>
      </p:pic>
      <p:sp>
        <p:nvSpPr>
          <p:cNvPr id="29" name="Text"/>
          <p:cNvSpPr txBox="1"/>
          <p:nvPr/>
        </p:nvSpPr>
        <p:spPr>
          <a:xfrm>
            <a:off x="850392" y="4270248"/>
            <a:ext cx="18288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2F9E78"/>
                </a:solidFill>
                <a:latin typeface="Calibri"/>
              </a:rPr>
              <a:t>Key exchange: post-quantum</a:t>
            </a:r>
          </a:p>
        </p:txBody>
      </p:sp>
      <p:pic>
        <p:nvPicPr>
          <p:cNvPr id="30" name="Icon x" descr="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97480" y="4297680"/>
            <a:ext cx="274320" cy="274320"/>
          </a:xfrm>
          <a:prstGeom prst="rect">
            <a:avLst/>
          </a:prstGeom>
        </p:spPr>
      </p:pic>
      <p:sp>
        <p:nvSpPr>
          <p:cNvPr id="31" name="Text"/>
          <p:cNvSpPr txBox="1"/>
          <p:nvPr/>
        </p:nvSpPr>
        <p:spPr>
          <a:xfrm>
            <a:off x="3044952" y="4270248"/>
            <a:ext cx="18288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E8639F"/>
                </a:solidFill>
                <a:latin typeface="Calibri"/>
              </a:rPr>
              <a:t>Certificate: ECDSA, breakable</a:t>
            </a:r>
          </a:p>
        </p:txBody>
      </p:sp>
      <p:sp>
        <p:nvSpPr>
          <p:cNvPr id="32" name="Label"/>
          <p:cNvSpPr txBox="1"/>
          <p:nvPr/>
        </p:nvSpPr>
        <p:spPr>
          <a:xfrm>
            <a:off x="5120640" y="1737360"/>
            <a:ext cx="3566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E8639F"/>
                </a:solidFill>
                <a:latin typeface="Calibri"/>
              </a:rPr>
              <a:t>WHO NEEDS IT</a:t>
            </a:r>
          </a:p>
        </p:txBody>
      </p:sp>
      <p:pic>
        <p:nvPicPr>
          <p:cNvPr id="33" name="Icon bank" descr="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20640" y="2011679"/>
            <a:ext cx="402336" cy="402336"/>
          </a:xfrm>
          <a:prstGeom prst="rect">
            <a:avLst/>
          </a:prstGeom>
        </p:spPr>
      </p:pic>
      <p:sp>
        <p:nvSpPr>
          <p:cNvPr id="34" name="Text"/>
          <p:cNvSpPr txBox="1"/>
          <p:nvPr/>
        </p:nvSpPr>
        <p:spPr>
          <a:xfrm>
            <a:off x="5623560" y="1984248"/>
            <a:ext cx="30632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2E1B5B"/>
                </a:solidFill>
                <a:latin typeface="Calibri"/>
              </a:rPr>
              <a:t>Banks &amp; payments</a:t>
            </a:r>
          </a:p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6B5E8A"/>
                </a:solidFill>
                <a:latin typeface="Calibri"/>
              </a:rPr>
              <a:t>RSA and ECC in every login</a:t>
            </a:r>
          </a:p>
        </p:txBody>
      </p:sp>
      <p:pic>
        <p:nvPicPr>
          <p:cNvPr id="35" name="Icon health" descr="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20640" y="2542032"/>
            <a:ext cx="402336" cy="402336"/>
          </a:xfrm>
          <a:prstGeom prst="rect">
            <a:avLst/>
          </a:prstGeom>
        </p:spPr>
      </p:pic>
      <p:sp>
        <p:nvSpPr>
          <p:cNvPr id="36" name="Text"/>
          <p:cNvSpPr txBox="1"/>
          <p:nvPr/>
        </p:nvSpPr>
        <p:spPr>
          <a:xfrm>
            <a:off x="5623560" y="2514600"/>
            <a:ext cx="30632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2E1B5B"/>
                </a:solidFill>
                <a:latin typeface="Calibri"/>
              </a:rPr>
              <a:t>Health &amp; identity</a:t>
            </a:r>
          </a:p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6B5E8A"/>
                </a:solidFill>
                <a:latin typeface="Calibri"/>
              </a:rPr>
              <a:t>Long-lived data, harvested now</a:t>
            </a:r>
          </a:p>
        </p:txBody>
      </p:sp>
      <p:pic>
        <p:nvPicPr>
          <p:cNvPr id="37" name="Icon enterprise" descr="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120640" y="3072384"/>
            <a:ext cx="402336" cy="402336"/>
          </a:xfrm>
          <a:prstGeom prst="rect">
            <a:avLst/>
          </a:prstGeom>
        </p:spPr>
      </p:pic>
      <p:sp>
        <p:nvSpPr>
          <p:cNvPr id="38" name="Text"/>
          <p:cNvSpPr txBox="1"/>
          <p:nvPr/>
        </p:nvSpPr>
        <p:spPr>
          <a:xfrm>
            <a:off x="5623560" y="3044952"/>
            <a:ext cx="30632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2E1B5B"/>
                </a:solidFill>
                <a:latin typeface="Calibri"/>
              </a:rPr>
              <a:t>Enterprises</a:t>
            </a:r>
          </a:p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6B5E8A"/>
                </a:solidFill>
                <a:latin typeface="Calibri"/>
              </a:rPr>
              <a:t>A CBOM to plan the 2035 move</a:t>
            </a:r>
          </a:p>
        </p:txBody>
      </p:sp>
      <p:pic>
        <p:nvPicPr>
          <p:cNvPr id="39" name="Icon devsecops" descr="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120640" y="3602735"/>
            <a:ext cx="402336" cy="402336"/>
          </a:xfrm>
          <a:prstGeom prst="rect">
            <a:avLst/>
          </a:prstGeom>
        </p:spPr>
      </p:pic>
      <p:sp>
        <p:nvSpPr>
          <p:cNvPr id="40" name="Text"/>
          <p:cNvSpPr txBox="1"/>
          <p:nvPr/>
        </p:nvSpPr>
        <p:spPr>
          <a:xfrm>
            <a:off x="5623560" y="3575303"/>
            <a:ext cx="30632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2E1B5B"/>
                </a:solidFill>
                <a:latin typeface="Calibri"/>
              </a:rPr>
              <a:t>DevSecOps</a:t>
            </a:r>
          </a:p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6B5E8A"/>
                </a:solidFill>
                <a:latin typeface="Calibri"/>
              </a:rPr>
              <a:t>qday scan --fail-on critical</a:t>
            </a:r>
          </a:p>
        </p:txBody>
      </p:sp>
      <p:pic>
        <p:nvPicPr>
          <p:cNvPr id="41" name="Icon edu" descr="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20640" y="4133088"/>
            <a:ext cx="402336" cy="402336"/>
          </a:xfrm>
          <a:prstGeom prst="rect">
            <a:avLst/>
          </a:prstGeom>
        </p:spPr>
      </p:pic>
      <p:sp>
        <p:nvSpPr>
          <p:cNvPr id="42" name="Text"/>
          <p:cNvSpPr txBox="1"/>
          <p:nvPr/>
        </p:nvSpPr>
        <p:spPr>
          <a:xfrm>
            <a:off x="5623560" y="4105656"/>
            <a:ext cx="30632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2E1B5B"/>
                </a:solidFill>
                <a:latin typeface="Calibri"/>
              </a:rPr>
              <a:t>Educators</a:t>
            </a:r>
          </a:p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6B5E8A"/>
                </a:solidFill>
                <a:latin typeface="Calibri"/>
              </a:rPr>
              <a:t>Shor &amp; Grover, live on real QPUs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4"/>
          <p:cNvSpPr>
            <a:spLocks noGrp="1"/>
          </p:cNvSpPr>
          <p:nvPr>
            <p:ph type="title" idx="120" hasCustomPrompt="1"/>
          </p:nvPr>
        </p:nvSpPr>
        <p:spPr>
          <a:xfrm>
            <a:off x="457200" y="841248"/>
            <a:ext cx="6309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2E1B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Challenges &amp; Future Scope</a:t>
            </a:r>
            <a:endParaRPr lang="en-US" sz="2600" dirty="0"/>
          </a:p>
        </p:txBody>
      </p:sp>
      <p:sp>
        <p:nvSpPr>
          <p:cNvPr id="3" name="Title accent"/>
          <p:cNvSpPr/>
          <p:nvPr/>
        </p:nvSpPr>
        <p:spPr>
          <a:xfrm>
            <a:off x="457200" y="1463040"/>
            <a:ext cx="256032" cy="45720"/>
          </a:xfrm>
          <a:prstGeom prst="rect">
            <a:avLst/>
          </a:prstGeom>
          <a:solidFill>
            <a:srgbClr val="7C93F0"/>
          </a:solidFill>
          <a:ln w="12700">
            <a:solidFill>
              <a:srgbClr val="7C93F0"/>
            </a:solidFill>
            <a:prstDash val="solid"/>
          </a:ln>
        </p:spPr>
      </p:sp>
      <p:sp>
        <p:nvSpPr>
          <p:cNvPr id="4" name="Title accent"/>
          <p:cNvSpPr/>
          <p:nvPr/>
        </p:nvSpPr>
        <p:spPr>
          <a:xfrm>
            <a:off x="731520" y="1463040"/>
            <a:ext cx="256032" cy="45720"/>
          </a:xfrm>
          <a:prstGeom prst="rect">
            <a:avLst/>
          </a:prstGeom>
          <a:solidFill>
            <a:srgbClr val="E8639F"/>
          </a:solidFill>
          <a:ln w="12700">
            <a:solidFill>
              <a:srgbClr val="E8639F"/>
            </a:solidFill>
            <a:prstDash val="solid"/>
          </a:ln>
        </p:spPr>
      </p:sp>
      <p:sp>
        <p:nvSpPr>
          <p:cNvPr id="5" name="Title accent"/>
          <p:cNvSpPr/>
          <p:nvPr/>
        </p:nvSpPr>
        <p:spPr>
          <a:xfrm>
            <a:off x="1005840" y="1463040"/>
            <a:ext cx="256032" cy="45720"/>
          </a:xfrm>
          <a:prstGeom prst="rect">
            <a:avLst/>
          </a:prstGeom>
          <a:solidFill>
            <a:srgbClr val="5B3BA8"/>
          </a:solidFill>
          <a:ln w="12700">
            <a:solidFill>
              <a:srgbClr val="5B3BA8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6460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2E1B5B"/>
                </a:solidFill>
              </a:defRPr>
            </a:lvl1pPr>
          </a:lstStyle>
          <a:p>
            <a:pPr algn="r"/>
            <a:fld id="{F7021451-1387-4CA6-816F-3879F97B5CBC}" type="slidenum">
              <a:rPr lang="en-US" b="1"/>
              <a:t>9</a:t>
            </a:fld>
            <a:endParaRPr lang="en-US"/>
          </a:p>
        </p:txBody>
      </p:sp>
      <p:sp>
        <p:nvSpPr>
          <p:cNvPr id="26" name="Label"/>
          <p:cNvSpPr txBox="1"/>
          <p:nvPr/>
        </p:nvSpPr>
        <p:spPr>
          <a:xfrm>
            <a:off x="502920" y="1737360"/>
            <a:ext cx="3657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E8639F"/>
                </a:solidFill>
                <a:latin typeface="Calibri"/>
              </a:rPr>
              <a:t>CHALLENGES</a:t>
            </a:r>
          </a:p>
        </p:txBody>
      </p:sp>
      <p:sp>
        <p:nvSpPr>
          <p:cNvPr id="27" name="Card"/>
          <p:cNvSpPr/>
          <p:nvPr/>
        </p:nvSpPr>
        <p:spPr>
          <a:xfrm>
            <a:off x="502920" y="1984248"/>
            <a:ext cx="4069080" cy="7955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B8BD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8" name="Icon noise" descr="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148840"/>
            <a:ext cx="457200" cy="457200"/>
          </a:xfrm>
          <a:prstGeom prst="rect">
            <a:avLst/>
          </a:prstGeom>
        </p:spPr>
      </p:pic>
      <p:sp>
        <p:nvSpPr>
          <p:cNvPr id="29" name="Text"/>
          <p:cNvSpPr txBox="1"/>
          <p:nvPr/>
        </p:nvSpPr>
        <p:spPr>
          <a:xfrm>
            <a:off x="1234440" y="2039112"/>
            <a:ext cx="1508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 i="0">
                <a:solidFill>
                  <a:srgbClr val="E8639F"/>
                </a:solidFill>
                <a:latin typeface="Georgia"/>
              </a:rPr>
              <a:t>22% vs 64%</a:t>
            </a:r>
          </a:p>
        </p:txBody>
      </p:sp>
      <p:sp>
        <p:nvSpPr>
          <p:cNvPr id="30" name="Text"/>
          <p:cNvSpPr txBox="1"/>
          <p:nvPr/>
        </p:nvSpPr>
        <p:spPr>
          <a:xfrm>
            <a:off x="2743200" y="2039112"/>
            <a:ext cx="17373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2E1B5B"/>
                </a:solidFill>
                <a:latin typeface="Calibri"/>
              </a:rPr>
              <a:t>Grover success on two qubit sets of one chip</a:t>
            </a:r>
          </a:p>
        </p:txBody>
      </p:sp>
      <p:sp>
        <p:nvSpPr>
          <p:cNvPr id="31" name="Card"/>
          <p:cNvSpPr/>
          <p:nvPr/>
        </p:nvSpPr>
        <p:spPr>
          <a:xfrm>
            <a:off x="502920" y="2871215"/>
            <a:ext cx="4069080" cy="7955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B8BD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2" name="Icon scale" descr="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035808"/>
            <a:ext cx="457200" cy="457200"/>
          </a:xfrm>
          <a:prstGeom prst="rect">
            <a:avLst/>
          </a:prstGeom>
        </p:spPr>
      </p:pic>
      <p:sp>
        <p:nvSpPr>
          <p:cNvPr id="33" name="Text"/>
          <p:cNvSpPr txBox="1"/>
          <p:nvPr/>
        </p:nvSpPr>
        <p:spPr>
          <a:xfrm>
            <a:off x="1234440" y="2926079"/>
            <a:ext cx="1508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 i="0">
                <a:solidFill>
                  <a:srgbClr val="E8639F"/>
                </a:solidFill>
                <a:latin typeface="Georgia"/>
              </a:rPr>
              <a:t>173 vs 6,500</a:t>
            </a:r>
          </a:p>
        </p:txBody>
      </p:sp>
      <p:sp>
        <p:nvSpPr>
          <p:cNvPr id="34" name="Text"/>
          <p:cNvSpPr txBox="1"/>
          <p:nvPr/>
        </p:nvSpPr>
        <p:spPr>
          <a:xfrm>
            <a:off x="2743200" y="2926079"/>
            <a:ext cx="17373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2E1B5B"/>
                </a:solidFill>
                <a:latin typeface="Calibri"/>
              </a:rPr>
              <a:t>two-qubit gates for
N = 15 vs N = 21</a:t>
            </a:r>
          </a:p>
        </p:txBody>
      </p:sp>
      <p:sp>
        <p:nvSpPr>
          <p:cNvPr id="35" name="Card"/>
          <p:cNvSpPr/>
          <p:nvPr/>
        </p:nvSpPr>
        <p:spPr>
          <a:xfrm>
            <a:off x="502920" y="3758183"/>
            <a:ext cx="4069080" cy="7955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B8BD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6" name="Icon toy" descr="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3922775"/>
            <a:ext cx="457200" cy="457200"/>
          </a:xfrm>
          <a:prstGeom prst="rect">
            <a:avLst/>
          </a:prstGeom>
        </p:spPr>
      </p:pic>
      <p:sp>
        <p:nvSpPr>
          <p:cNvPr id="37" name="Text"/>
          <p:cNvSpPr txBox="1"/>
          <p:nvPr/>
        </p:nvSpPr>
        <p:spPr>
          <a:xfrm>
            <a:off x="1234440" y="3813047"/>
            <a:ext cx="1508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 i="0">
                <a:solidFill>
                  <a:srgbClr val="E8639F"/>
                </a:solidFill>
                <a:latin typeface="Georgia"/>
              </a:rPr>
              <a:t>Toy keys</a:t>
            </a:r>
          </a:p>
        </p:txBody>
      </p:sp>
      <p:sp>
        <p:nvSpPr>
          <p:cNvPr id="38" name="Text"/>
          <p:cNvSpPr txBox="1"/>
          <p:nvPr/>
        </p:nvSpPr>
        <p:spPr>
          <a:xfrm>
            <a:off x="2743200" y="3813047"/>
            <a:ext cx="17373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2E1B5B"/>
                </a:solidFill>
                <a:latin typeface="Calibri"/>
              </a:rPr>
              <a:t>N = 15, 21 and 3–4-bit keys today</a:t>
            </a:r>
          </a:p>
        </p:txBody>
      </p:sp>
      <p:sp>
        <p:nvSpPr>
          <p:cNvPr id="39" name="Label"/>
          <p:cNvSpPr txBox="1"/>
          <p:nvPr/>
        </p:nvSpPr>
        <p:spPr>
          <a:xfrm>
            <a:off x="4937760" y="1737360"/>
            <a:ext cx="3657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E8639F"/>
                </a:solidFill>
                <a:latin typeface="Calibri"/>
              </a:rPr>
              <a:t>FUTURE SCOPE</a:t>
            </a:r>
          </a:p>
        </p:txBody>
      </p:sp>
      <p:sp>
        <p:nvSpPr>
          <p:cNvPr id="40" name="Timeline"/>
          <p:cNvSpPr/>
          <p:nvPr/>
        </p:nvSpPr>
        <p:spPr>
          <a:xfrm>
            <a:off x="5175504" y="2103120"/>
            <a:ext cx="36576" cy="2331720"/>
          </a:xfrm>
          <a:prstGeom prst="rect">
            <a:avLst/>
          </a:prstGeom>
          <a:solidFill>
            <a:srgbClr val="B8B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imeline dot"/>
          <p:cNvSpPr/>
          <p:nvPr/>
        </p:nvSpPr>
        <p:spPr>
          <a:xfrm>
            <a:off x="5084064" y="2084832"/>
            <a:ext cx="219456" cy="219456"/>
          </a:xfrm>
          <a:prstGeom prst="ellipse">
            <a:avLst/>
          </a:prstGeom>
          <a:solidFill>
            <a:srgbClr val="E8639F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"/>
          <p:cNvSpPr txBox="1"/>
          <p:nvPr/>
        </p:nvSpPr>
        <p:spPr>
          <a:xfrm>
            <a:off x="5440680" y="2011680"/>
            <a:ext cx="685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E8639F"/>
                </a:solidFill>
                <a:latin typeface="Georgia"/>
              </a:rPr>
              <a:t>Now</a:t>
            </a:r>
          </a:p>
        </p:txBody>
      </p:sp>
      <p:sp>
        <p:nvSpPr>
          <p:cNvPr id="43" name="Text"/>
          <p:cNvSpPr txBox="1"/>
          <p:nvPr/>
        </p:nvSpPr>
        <p:spPr>
          <a:xfrm>
            <a:off x="6126480" y="2011680"/>
            <a:ext cx="2560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2E1B5B"/>
                </a:solidFill>
                <a:latin typeface="Calibri"/>
              </a:rPr>
              <a:t>Error suppression and smarter qubit placement</a:t>
            </a:r>
          </a:p>
        </p:txBody>
      </p:sp>
      <p:sp>
        <p:nvSpPr>
          <p:cNvPr id="44" name="Timeline dot"/>
          <p:cNvSpPr/>
          <p:nvPr/>
        </p:nvSpPr>
        <p:spPr>
          <a:xfrm>
            <a:off x="5084064" y="2724912"/>
            <a:ext cx="219456" cy="219456"/>
          </a:xfrm>
          <a:prstGeom prst="ellipse">
            <a:avLst/>
          </a:prstGeom>
          <a:solidFill>
            <a:srgbClr val="5B3BA8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"/>
          <p:cNvSpPr txBox="1"/>
          <p:nvPr/>
        </p:nvSpPr>
        <p:spPr>
          <a:xfrm>
            <a:off x="5440680" y="2651760"/>
            <a:ext cx="685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5B3BA8"/>
                </a:solidFill>
                <a:latin typeface="Georgia"/>
              </a:rPr>
              <a:t>Next</a:t>
            </a:r>
          </a:p>
        </p:txBody>
      </p:sp>
      <p:sp>
        <p:nvSpPr>
          <p:cNvPr id="46" name="Text"/>
          <p:cNvSpPr txBox="1"/>
          <p:nvPr/>
        </p:nvSpPr>
        <p:spPr>
          <a:xfrm>
            <a:off x="6126480" y="2651760"/>
            <a:ext cx="2560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2E1B5B"/>
                </a:solidFill>
                <a:latin typeface="Calibri"/>
              </a:rPr>
              <a:t>Reachability analysis in the code scanner</a:t>
            </a:r>
          </a:p>
        </p:txBody>
      </p:sp>
      <p:sp>
        <p:nvSpPr>
          <p:cNvPr id="47" name="Timeline dot"/>
          <p:cNvSpPr/>
          <p:nvPr/>
        </p:nvSpPr>
        <p:spPr>
          <a:xfrm>
            <a:off x="5084064" y="3364992"/>
            <a:ext cx="219456" cy="219456"/>
          </a:xfrm>
          <a:prstGeom prst="ellipse">
            <a:avLst/>
          </a:prstGeom>
          <a:solidFill>
            <a:srgbClr val="7C93F0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"/>
          <p:cNvSpPr txBox="1"/>
          <p:nvPr/>
        </p:nvSpPr>
        <p:spPr>
          <a:xfrm>
            <a:off x="5440680" y="3291840"/>
            <a:ext cx="685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7C93F0"/>
                </a:solidFill>
                <a:latin typeface="Georgia"/>
              </a:rPr>
              <a:t>2029</a:t>
            </a:r>
          </a:p>
        </p:txBody>
      </p:sp>
      <p:sp>
        <p:nvSpPr>
          <p:cNvPr id="49" name="Text"/>
          <p:cNvSpPr txBox="1"/>
          <p:nvPr/>
        </p:nvSpPr>
        <p:spPr>
          <a:xfrm>
            <a:off x="6126480" y="3291840"/>
            <a:ext cx="2560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2E1B5B"/>
                </a:solidFill>
                <a:latin typeface="Calibri"/>
              </a:rPr>
              <a:t>IBM Starling: larger attack instances</a:t>
            </a:r>
          </a:p>
        </p:txBody>
      </p:sp>
      <p:sp>
        <p:nvSpPr>
          <p:cNvPr id="50" name="Timeline dot"/>
          <p:cNvSpPr/>
          <p:nvPr/>
        </p:nvSpPr>
        <p:spPr>
          <a:xfrm>
            <a:off x="5084064" y="4005072"/>
            <a:ext cx="219456" cy="219456"/>
          </a:xfrm>
          <a:prstGeom prst="ellipse">
            <a:avLst/>
          </a:prstGeom>
          <a:solidFill>
            <a:srgbClr val="2E1B5B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"/>
          <p:cNvSpPr txBox="1"/>
          <p:nvPr/>
        </p:nvSpPr>
        <p:spPr>
          <a:xfrm>
            <a:off x="5440680" y="3931920"/>
            <a:ext cx="685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2E1B5B"/>
                </a:solidFill>
                <a:latin typeface="Georgia"/>
              </a:rPr>
              <a:t>2033+</a:t>
            </a:r>
          </a:p>
        </p:txBody>
      </p:sp>
      <p:sp>
        <p:nvSpPr>
          <p:cNvPr id="52" name="Text"/>
          <p:cNvSpPr txBox="1"/>
          <p:nvPr/>
        </p:nvSpPr>
        <p:spPr>
          <a:xfrm>
            <a:off x="6126480" y="3931920"/>
            <a:ext cx="2560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2E1B5B"/>
                </a:solidFill>
                <a:latin typeface="Calibri"/>
              </a:rPr>
              <a:t>Blue Jay: fault-tolerant runs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9144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E863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CLOSING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4754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200" b="1" dirty="0">
                <a:solidFill>
                  <a:srgbClr val="2E1B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</a:t>
            </a:r>
            <a:endParaRPr lang="en-US" sz="4200" dirty="0"/>
          </a:p>
          <a:p>
            <a:pPr marL="0" indent="0">
              <a:buNone/>
            </a:pPr>
            <a:r>
              <a:rPr lang="en-US" sz="4200" b="1" dirty="0">
                <a:solidFill>
                  <a:srgbClr val="E8639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Questions?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78892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i="1" dirty="0">
                <a:solidFill>
                  <a:srgbClr val="6F7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Inspiring Minds. Shaping Tomorrow.</a:t>
            </a:r>
            <a:endParaRPr lang="en-US" sz="1300" dirty="0"/>
          </a:p>
        </p:txBody>
      </p:sp>
      <p:sp>
        <p:nvSpPr>
          <p:cNvPr id="5" name="Field: GITHUB REPOSITORY"/>
          <p:cNvSpPr/>
          <p:nvPr/>
        </p:nvSpPr>
        <p:spPr>
          <a:xfrm>
            <a:off x="434340" y="3154680"/>
            <a:ext cx="2286000" cy="71323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B8BDEB"/>
            </a:solidFill>
          </a:ln>
        </p:spPr>
        <p:txBody>
          <a:bodyPr wrap="square" lIns="63500" tIns="114300" rIns="114300" bIns="38100" rtlCol="0" anchor="t"/>
          <a:lstStyle/>
          <a:p>
            <a:pPr marL="0" indent="0" algn="l">
              <a:buNone/>
            </a:pPr>
            <a:r>
              <a:rPr lang="en-US" sz="900" b="1" kern="0" spc="100" dirty="0">
                <a:solidFill>
                  <a:srgbClr val="5B3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REPOSITORY</a:t>
            </a:r>
          </a:p>
          <a:p>
            <a:r>
              <a:rPr lang="en-IN" sz="900" dirty="0">
                <a:hlinkClick r:id="rId8"/>
              </a:rPr>
              <a:t>vtu-qiskit-fall-fest-2026/vtu-hc-straw-hat-pirates</a:t>
            </a:r>
            <a:endParaRPr lang="en-US" sz="900" dirty="0"/>
          </a:p>
        </p:txBody>
      </p:sp>
      <p:sp>
        <p:nvSpPr>
          <p:cNvPr id="6" name="Field: DEMO VIDEO LINK"/>
          <p:cNvSpPr/>
          <p:nvPr/>
        </p:nvSpPr>
        <p:spPr>
          <a:xfrm>
            <a:off x="2834640" y="3154680"/>
            <a:ext cx="2286000" cy="731521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B8BDEB"/>
            </a:solidFill>
          </a:ln>
        </p:spPr>
        <p:txBody>
          <a:bodyPr wrap="square" lIns="63500" tIns="114300" rIns="114300" bIns="38100" rtlCol="0" anchor="t"/>
          <a:lstStyle/>
          <a:p>
            <a:pPr marL="0" indent="0" algn="l">
              <a:buNone/>
            </a:pPr>
            <a:r>
              <a:rPr lang="en-US" sz="900" b="1" kern="0" spc="100" dirty="0">
                <a:solidFill>
                  <a:srgbClr val="5B3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VIDEO LINK</a:t>
            </a:r>
            <a:endParaRPr lang="en-US" sz="900" dirty="0"/>
          </a:p>
          <a:p>
            <a:r>
              <a:rPr lang="en-US" sz="900" dirty="0">
                <a:hlinkClick r:id="rId9"/>
              </a:rPr>
              <a:t>https://youtu.be/nhXP6QLFjoU</a:t>
            </a:r>
          </a:p>
        </p:txBody>
      </p:sp>
      <p:pic>
        <p:nvPicPr>
          <p:cNvPr id="7" name="Bloch sphere ring" descr="sphe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40680" y="1188720"/>
            <a:ext cx="3200400" cy="3200400"/>
          </a:xfrm>
          <a:prstGeom prst="rect">
            <a:avLst/>
          </a:prstGeom>
        </p:spPr>
      </p:pic>
      <p:pic>
        <p:nvPicPr>
          <p:cNvPr id="8" name="Image 1" descr="bird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9200" y="914400"/>
            <a:ext cx="822960" cy="493776"/>
          </a:xfrm>
          <a:prstGeom prst="rect">
            <a:avLst/>
          </a:prstGeom>
        </p:spPr>
      </p:pic>
      <p:pic>
        <p:nvPicPr>
          <p:cNvPr id="9" name="Image 2" descr="bird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54880" y="3840480"/>
            <a:ext cx="548640" cy="329184"/>
          </a:xfrm>
          <a:prstGeom prst="rect">
            <a:avLst/>
          </a:prstGeom>
        </p:spPr>
      </p:pic>
      <p:pic>
        <p:nvPicPr>
          <p:cNvPr id="10" name="Image 3" descr="bird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29600" y="4023360"/>
            <a:ext cx="457200" cy="274320"/>
          </a:xfrm>
          <a:prstGeom prst="rect">
            <a:avLst/>
          </a:prstGeom>
        </p:spPr>
      </p:pic>
      <p:pic>
        <p:nvPicPr>
          <p:cNvPr id="11" name="QR GitHub" descr="QR code linking to the github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931920"/>
            <a:ext cx="548640" cy="548640"/>
          </a:xfrm>
          <a:prstGeom prst="rect">
            <a:avLst/>
          </a:prstGeom>
        </p:spPr>
      </p:pic>
      <p:sp>
        <p:nvSpPr>
          <p:cNvPr id="12" name="Text"/>
          <p:cNvSpPr txBox="1"/>
          <p:nvPr/>
        </p:nvSpPr>
        <p:spPr>
          <a:xfrm>
            <a:off x="1097280" y="3995928"/>
            <a:ext cx="1463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 i="0">
                <a:solidFill>
                  <a:srgbClr val="6B5E8A"/>
                </a:solidFill>
                <a:latin typeface="Calibri"/>
              </a:rPr>
              <a:t>Scan for</a:t>
            </a:r>
          </a:p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2E1B5B"/>
                </a:solidFill>
                <a:latin typeface="Calibri"/>
              </a:rPr>
              <a:t>GitHub</a:t>
            </a:r>
          </a:p>
        </p:txBody>
      </p:sp>
      <p:pic>
        <p:nvPicPr>
          <p:cNvPr id="13" name="QR Demo on YouTube" descr="QR code linking to the demo on youtube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852928" y="3931920"/>
            <a:ext cx="548640" cy="548640"/>
          </a:xfrm>
          <a:prstGeom prst="rect">
            <a:avLst/>
          </a:prstGeom>
        </p:spPr>
      </p:pic>
      <p:sp>
        <p:nvSpPr>
          <p:cNvPr id="14" name="Text"/>
          <p:cNvSpPr txBox="1"/>
          <p:nvPr/>
        </p:nvSpPr>
        <p:spPr>
          <a:xfrm>
            <a:off x="3493008" y="3995928"/>
            <a:ext cx="1463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 i="0">
                <a:solidFill>
                  <a:srgbClr val="6B5E8A"/>
                </a:solidFill>
                <a:latin typeface="Calibri"/>
              </a:rPr>
              <a:t>Scan for</a:t>
            </a:r>
          </a:p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2E1B5B"/>
                </a:solidFill>
                <a:latin typeface="Calibri"/>
              </a:rPr>
              <a:t>Demo on YouTube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Qiskit Fall Fest">
  <a:themeElements>
    <a:clrScheme name="Qiskit Fall Fest">
      <a:dk1>
        <a:srgbClr val="2E1B5B"/>
      </a:dk1>
      <a:lt1>
        <a:srgbClr val="FFFFFF"/>
      </a:lt1>
      <a:dk2>
        <a:srgbClr val="4B2BA8"/>
      </a:dk2>
      <a:lt2>
        <a:srgbClr val="DDE2FC"/>
      </a:lt2>
      <a:accent1>
        <a:srgbClr val="E0558F"/>
      </a:accent1>
      <a:accent2>
        <a:srgbClr val="6B3FD4"/>
      </a:accent2>
      <a:accent3>
        <a:srgbClr val="F5C33B"/>
      </a:accent3>
      <a:accent4>
        <a:srgbClr val="3B82F6"/>
      </a:accent4>
      <a:accent5>
        <a:srgbClr val="7B58B8"/>
      </a:accent5>
      <a:accent6>
        <a:srgbClr val="2BB5A0"/>
      </a:accent6>
      <a:hlink>
        <a:srgbClr val="6B3FD4"/>
      </a:hlink>
      <a:folHlink>
        <a:srgbClr val="4B2BA8"/>
      </a:folHlink>
    </a:clrScheme>
    <a:fontScheme name="Qiskit Fall Fest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1461</Words>
  <Application>Microsoft Office PowerPoint</Application>
  <PresentationFormat>On-screen Show (16:9)</PresentationFormat>
  <Paragraphs>151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6" baseType="lpstr">
      <vt:lpstr>Aptos</vt:lpstr>
      <vt:lpstr>Arial</vt:lpstr>
      <vt:lpstr>Calibri</vt:lpstr>
      <vt:lpstr>Georgia</vt:lpstr>
      <vt:lpstr>Nirmala UI</vt:lpstr>
      <vt:lpstr>Qiskit Fall Fest</vt:lpstr>
      <vt:lpstr>PowerPoint Presentation</vt:lpstr>
      <vt:lpstr>Problem Statement</vt:lpstr>
      <vt:lpstr>Objectives &amp; Novelty</vt:lpstr>
      <vt:lpstr>Solution &amp; Quantum Advantage</vt:lpstr>
      <vt:lpstr>Algorithm &amp; Circuit Design</vt:lpstr>
      <vt:lpstr>Implementation &amp; Tech Stack</vt:lpstr>
      <vt:lpstr>Results &amp; Analysis</vt:lpstr>
      <vt:lpstr>Impact &amp; Real-World Applications</vt:lpstr>
      <vt:lpstr>Challenges &amp; Future Scope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Krish</dc:creator>
  <cp:lastModifiedBy>Krish jain</cp:lastModifiedBy>
  <cp:revision>1</cp:revision>
  <dcterms:modified xsi:type="dcterms:W3CDTF">2026-10-22T11:37:18Z</dcterms:modified>
</cp:coreProperties>
</file>